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56" r:id="rId2"/>
    <p:sldId id="299" r:id="rId3"/>
    <p:sldId id="327" r:id="rId4"/>
    <p:sldId id="338" r:id="rId5"/>
    <p:sldId id="337" r:id="rId6"/>
    <p:sldId id="341" r:id="rId7"/>
    <p:sldId id="339" r:id="rId8"/>
    <p:sldId id="340" r:id="rId9"/>
    <p:sldId id="342" r:id="rId10"/>
  </p:sldIdLst>
  <p:sldSz cx="9144000" cy="6858000" type="screen4x3"/>
  <p:notesSz cx="7099300" cy="10234613"/>
  <p:defaultTextStyle>
    <a:defPPr>
      <a:defRPr lang="it-IT"/>
    </a:defPPr>
    <a:lvl1pPr algn="l" rtl="0" eaLnBrk="0" fontAlgn="base" hangingPunct="0">
      <a:spcBef>
        <a:spcPct val="2000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2000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2000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2000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2000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3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0033CC"/>
    <a:srgbClr val="0066FF"/>
    <a:srgbClr val="004F84"/>
    <a:srgbClr val="009A46"/>
    <a:srgbClr val="2C5986"/>
    <a:srgbClr val="004C80"/>
    <a:srgbClr val="004D82"/>
    <a:srgbClr val="003F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60" autoAdjust="0"/>
    <p:restoredTop sz="94636" autoAdjust="0"/>
  </p:normalViewPr>
  <p:slideViewPr>
    <p:cSldViewPr>
      <p:cViewPr varScale="1">
        <p:scale>
          <a:sx n="88" d="100"/>
          <a:sy n="88" d="100"/>
        </p:scale>
        <p:origin x="1065" y="5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3" d="100"/>
          <a:sy n="63" d="100"/>
        </p:scale>
        <p:origin x="-3342" y="-102"/>
      </p:cViewPr>
      <p:guideLst>
        <p:guide orient="horz" pos="3223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768" tIns="47384" rIns="94768" bIns="47384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>
                <a:latin typeface="Times" pitchFamily="18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2725" y="0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768" tIns="47384" rIns="94768" bIns="47384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>
                <a:latin typeface="Times" pitchFamily="18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1229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850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768" tIns="47384" rIns="94768" bIns="47384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>
                <a:latin typeface="Times" pitchFamily="18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1229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2725" y="9721850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768" tIns="47384" rIns="94768" bIns="47384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>
                <a:latin typeface="Times" pitchFamily="18" charset="0"/>
              </a:defRPr>
            </a:lvl1pPr>
          </a:lstStyle>
          <a:p>
            <a:pPr>
              <a:defRPr/>
            </a:pPr>
            <a:fld id="{7A66F8E0-FD64-4B58-8EEF-F178838EB4DE}" type="slidenum">
              <a:rPr lang="it-IT"/>
              <a:pPr>
                <a:defRPr/>
              </a:pPr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2473858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768" tIns="47384" rIns="94768" bIns="47384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>
                <a:latin typeface="Times" pitchFamily="18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2725" y="0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768" tIns="47384" rIns="94768" bIns="47384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>
                <a:latin typeface="Times" pitchFamily="18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922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2188" y="768350"/>
            <a:ext cx="5116512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6150" y="4860925"/>
            <a:ext cx="5207000" cy="4605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768" tIns="47384" rIns="94768" bIns="4738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 noProof="0"/>
              <a:t>Fare clic per modificare gli stili del testo dello schema</a:t>
            </a:r>
          </a:p>
          <a:p>
            <a:pPr lvl="1"/>
            <a:r>
              <a:rPr lang="it-IT" noProof="0"/>
              <a:t>Secondo livello</a:t>
            </a:r>
          </a:p>
          <a:p>
            <a:pPr lvl="2"/>
            <a:r>
              <a:rPr lang="it-IT" noProof="0"/>
              <a:t>Terzo livello</a:t>
            </a:r>
          </a:p>
          <a:p>
            <a:pPr lvl="3"/>
            <a:r>
              <a:rPr lang="it-IT" noProof="0"/>
              <a:t>Quarto livello</a:t>
            </a:r>
          </a:p>
          <a:p>
            <a:pPr lvl="4"/>
            <a:r>
              <a:rPr lang="it-IT" noProof="0"/>
              <a:t>Quinto livello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768" tIns="47384" rIns="94768" bIns="47384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>
                <a:latin typeface="Times" pitchFamily="18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725" y="9721850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768" tIns="47384" rIns="94768" bIns="47384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>
                <a:latin typeface="Times" pitchFamily="18" charset="0"/>
              </a:defRPr>
            </a:lvl1pPr>
          </a:lstStyle>
          <a:p>
            <a:pPr>
              <a:defRPr/>
            </a:pPr>
            <a:fld id="{A1763000-9FB9-4E7F-B797-8E7F8FFB6CC4}" type="slidenum">
              <a:rPr lang="it-IT"/>
              <a:pPr>
                <a:defRPr/>
              </a:pPr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656612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02AB8AB-6C48-49E2-8C79-541F03933A63}" type="slidenum">
              <a:rPr lang="it-IT" smtClean="0"/>
              <a:pPr/>
              <a:t>1</a:t>
            </a:fld>
            <a:endParaRPr lang="it-IT"/>
          </a:p>
        </p:txBody>
      </p:sp>
      <p:sp>
        <p:nvSpPr>
          <p:cNvPr id="102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55650" y="828675"/>
            <a:ext cx="5526088" cy="4144963"/>
          </a:xfrm>
          <a:ln/>
        </p:spPr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8213" y="5246688"/>
            <a:ext cx="5159375" cy="4975225"/>
          </a:xfrm>
          <a:noFill/>
          <a:ln/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26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GB" dirty="0"/>
          </a:p>
        </p:txBody>
      </p:sp>
      <p:sp>
        <p:nvSpPr>
          <p:cNvPr id="1126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E8AD28E-1B33-479A-B8A9-6340AA80FD59}" type="slidenum">
              <a:rPr lang="it-IT" smtClean="0"/>
              <a:pPr/>
              <a:t>2</a:t>
            </a:fld>
            <a:endParaRPr lang="it-IT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5" descr="powerpoint1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Rectangle 15"/>
          <p:cNvSpPr>
            <a:spLocks noChangeArrowheads="1"/>
          </p:cNvSpPr>
          <p:nvPr/>
        </p:nvSpPr>
        <p:spPr bwMode="auto">
          <a:xfrm>
            <a:off x="0" y="0"/>
            <a:ext cx="9169400" cy="6873875"/>
          </a:xfrm>
          <a:prstGeom prst="rect">
            <a:avLst/>
          </a:prstGeom>
          <a:noFill/>
          <a:ln w="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GB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Rectangle 6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8E3F6A-E10F-47BC-A986-608397022AEF}" type="slidenum">
              <a:rPr lang="it-IT"/>
              <a:pPr>
                <a:defRPr/>
              </a:pPr>
              <a:t>‹#›</a:t>
            </a:fld>
            <a:endParaRPr lang="it-IT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Rectangle 6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EA8993-8B40-4D66-8586-9BFFAD5605B0}" type="slidenum">
              <a:rPr lang="it-IT"/>
              <a:pPr>
                <a:defRPr/>
              </a:pPr>
              <a:t>‹#›</a:t>
            </a:fld>
            <a:endParaRPr lang="it-IT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6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72580F-9594-4D33-B822-59B11F90139E}" type="slidenum">
              <a:rPr lang="it-IT"/>
              <a:pPr>
                <a:defRPr/>
              </a:pPr>
              <a:t>‹#›</a:t>
            </a:fld>
            <a:endParaRPr lang="it-IT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066800"/>
            <a:ext cx="40386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0600" y="1066800"/>
            <a:ext cx="40386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Rectangle 6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61163D-6394-4EE0-88F4-D65119BCB603}" type="slidenum">
              <a:rPr lang="it-IT"/>
              <a:pPr>
                <a:defRPr/>
              </a:pPr>
              <a:t>‹#›</a:t>
            </a:fld>
            <a:endParaRPr lang="it-IT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Rectangle 6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BA6B05-E3C7-4264-9CBC-401F310B44CA}" type="slidenum">
              <a:rPr lang="it-IT"/>
              <a:pPr>
                <a:defRPr/>
              </a:pPr>
              <a:t>‹#›</a:t>
            </a:fld>
            <a:endParaRPr lang="it-IT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Rectangle 6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6690C2-7CC7-4CF6-91D8-51FEEF697129}" type="slidenum">
              <a:rPr lang="it-IT"/>
              <a:pPr>
                <a:defRPr/>
              </a:pPr>
              <a:t>‹#›</a:t>
            </a:fld>
            <a:endParaRPr lang="it-IT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F9E230-1756-4978-AE1E-FE73175DDBB7}" type="slidenum">
              <a:rPr lang="it-IT"/>
              <a:pPr>
                <a:defRPr/>
              </a:pPr>
              <a:t>‹#›</a:t>
            </a:fld>
            <a:endParaRPr lang="it-IT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FB10683-AE59-4D4F-B426-D875555D63B6}" type="slidenum">
              <a:rPr lang="it-IT"/>
              <a:pPr>
                <a:defRPr/>
              </a:pPr>
              <a:t>‹#›</a:t>
            </a:fld>
            <a:endParaRPr lang="it-IT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5D99CD-CE36-47A8-AE19-C7DC46EA1C5C}" type="slidenum">
              <a:rPr lang="it-IT"/>
              <a:pPr>
                <a:defRPr/>
              </a:pPr>
              <a:t>‹#›</a:t>
            </a:fld>
            <a:endParaRPr lang="it-IT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6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4EC5ED-D1C2-4C37-A8C5-ACA5756031E4}" type="slidenum">
              <a:rPr lang="it-IT"/>
              <a:pPr>
                <a:defRPr/>
              </a:pPr>
              <a:t>‹#›</a:t>
            </a:fld>
            <a:endParaRPr lang="it-IT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76200"/>
            <a:ext cx="2057400" cy="5943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76200"/>
            <a:ext cx="6019800" cy="59436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6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8070BB-2890-4F21-9039-4E17E2CEDEC5}" type="slidenum">
              <a:rPr lang="it-IT"/>
              <a:pPr>
                <a:defRPr/>
              </a:pPr>
              <a:t>‹#›</a:t>
            </a:fld>
            <a:endParaRPr lang="it-IT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60" descr="num_diap"/>
          <p:cNvPicPr>
            <a:picLocks noChangeAspect="1" noChangeArrowheads="1"/>
          </p:cNvPicPr>
          <p:nvPr userDrawn="1"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6724650" y="0"/>
            <a:ext cx="2419350" cy="450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147" name="Rectangle 19"/>
          <p:cNvSpPr>
            <a:spLocks noGrp="1" noChangeAspect="1" noChangeArrowheads="1"/>
          </p:cNvSpPr>
          <p:nvPr>
            <p:ph type="title"/>
          </p:nvPr>
        </p:nvSpPr>
        <p:spPr bwMode="auto">
          <a:xfrm>
            <a:off x="609600" y="76200"/>
            <a:ext cx="59436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/>
              <a:t>Titolo diapositiva</a:t>
            </a:r>
          </a:p>
        </p:txBody>
      </p:sp>
      <p:sp>
        <p:nvSpPr>
          <p:cNvPr id="6148" name="Rectangle 66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066800"/>
            <a:ext cx="8229600" cy="495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/>
              <a:t>Fare clic per modificare il testo</a:t>
            </a:r>
          </a:p>
          <a:p>
            <a:pPr lvl="1"/>
            <a:r>
              <a:rPr lang="it-IT"/>
              <a:t>Testo</a:t>
            </a:r>
          </a:p>
          <a:p>
            <a:pPr lvl="2"/>
            <a:r>
              <a:rPr lang="it-IT"/>
              <a:t>Testo</a:t>
            </a:r>
          </a:p>
          <a:p>
            <a:pPr lvl="3"/>
            <a:r>
              <a:rPr lang="it-IT"/>
              <a:t>testo</a:t>
            </a:r>
          </a:p>
        </p:txBody>
      </p:sp>
      <p:sp>
        <p:nvSpPr>
          <p:cNvPr id="1092" name="Rectangle 6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05600" y="152400"/>
            <a:ext cx="13620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1080000" bIns="0" numCol="1" anchor="t" anchorCtr="0" compatLnSpc="1">
            <a:prstTxWarp prst="textNoShape">
              <a:avLst/>
            </a:prstTxWarp>
            <a:spAutoFit/>
          </a:bodyPr>
          <a:lstStyle>
            <a:lvl1pPr algn="r">
              <a:defRPr sz="1600" b="1">
                <a:solidFill>
                  <a:srgbClr val="003F6E"/>
                </a:solidFill>
              </a:defRPr>
            </a:lvl1pPr>
          </a:lstStyle>
          <a:p>
            <a:pPr>
              <a:defRPr/>
            </a:pPr>
            <a:fld id="{FE9EC9AE-7CAA-489B-B4C9-1B478B88989B}" type="slidenum">
              <a:rPr lang="it-IT"/>
              <a:pPr>
                <a:defRPr/>
              </a:pPr>
              <a:t>‹#›</a:t>
            </a:fld>
            <a:endParaRPr lang="it-IT"/>
          </a:p>
        </p:txBody>
      </p:sp>
      <p:pic>
        <p:nvPicPr>
          <p:cNvPr id="6150" name="Picture 74" descr="powerpoint1_sec"/>
          <p:cNvPicPr>
            <a:picLocks noChangeAspect="1" noChangeArrowheads="1"/>
          </p:cNvPicPr>
          <p:nvPr userDrawn="1"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0" y="6553200"/>
            <a:ext cx="9144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95" name="Text Box 71"/>
          <p:cNvSpPr txBox="1">
            <a:spLocks noChangeArrowheads="1"/>
          </p:cNvSpPr>
          <p:nvPr userDrawn="1"/>
        </p:nvSpPr>
        <p:spPr bwMode="auto">
          <a:xfrm>
            <a:off x="458266" y="6588125"/>
            <a:ext cx="4113734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defRPr/>
            </a:pPr>
            <a:r>
              <a:rPr lang="it-IT" sz="1200" b="1" dirty="0">
                <a:solidFill>
                  <a:srgbClr val="003F6E"/>
                </a:solidFill>
              </a:rPr>
              <a:t>Turbomachinery  –  Prof.  Gaetani – Dip. Energia.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4" r:id="rId1"/>
    <p:sldLayoutId id="2147483753" r:id="rId2"/>
    <p:sldLayoutId id="2147483754" r:id="rId3"/>
    <p:sldLayoutId id="2147483755" r:id="rId4"/>
    <p:sldLayoutId id="2147483756" r:id="rId5"/>
    <p:sldLayoutId id="2147483757" r:id="rId6"/>
    <p:sldLayoutId id="2147483758" r:id="rId7"/>
    <p:sldLayoutId id="2147483759" r:id="rId8"/>
    <p:sldLayoutId id="2147483760" r:id="rId9"/>
    <p:sldLayoutId id="2147483761" r:id="rId10"/>
    <p:sldLayoutId id="2147483762" r:id="rId11"/>
    <p:sldLayoutId id="2147483763" r:id="rId1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rgbClr val="003F6E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rgbClr val="003F6E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rgbClr val="003F6E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rgbClr val="003F6E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rgbClr val="003F6E"/>
          </a:solidFill>
          <a:latin typeface="Arial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200" b="1">
          <a:solidFill>
            <a:srgbClr val="003F6E"/>
          </a:solidFill>
          <a:latin typeface="Arial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200" b="1">
          <a:solidFill>
            <a:srgbClr val="003F6E"/>
          </a:solidFill>
          <a:latin typeface="Arial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200" b="1">
          <a:solidFill>
            <a:srgbClr val="003F6E"/>
          </a:solidFill>
          <a:latin typeface="Arial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200" b="1">
          <a:solidFill>
            <a:srgbClr val="003F6E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004C80"/>
        </a:buClr>
        <a:buSzPct val="8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004D82"/>
        </a:buClr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004C80"/>
        </a:buClr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Minion Web" pitchFamily="18" charset="0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Minion Web" pitchFamily="18" charset="0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Minion Web" pitchFamily="18" charset="0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Minion Web" pitchFamily="18" charset="0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Minion Web" pitchFamily="18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wmf"/><Relationship Id="rId13" Type="http://schemas.openxmlformats.org/officeDocument/2006/relationships/oleObject" Target="../embeddings/oleObject6.bin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9.wmf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0" Type="http://schemas.openxmlformats.org/officeDocument/2006/relationships/image" Target="../media/image8.wmf"/><Relationship Id="rId4" Type="http://schemas.openxmlformats.org/officeDocument/2006/relationships/image" Target="../media/image5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10.w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7" Type="http://schemas.openxmlformats.org/officeDocument/2006/relationships/image" Target="../media/image13.w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9.bin"/><Relationship Id="rId5" Type="http://schemas.openxmlformats.org/officeDocument/2006/relationships/image" Target="../media/image12.wmf"/><Relationship Id="rId4" Type="http://schemas.openxmlformats.org/officeDocument/2006/relationships/oleObject" Target="../embeddings/oleObject8.bin"/><Relationship Id="rId9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wmf"/><Relationship Id="rId3" Type="http://schemas.openxmlformats.org/officeDocument/2006/relationships/oleObject" Target="../embeddings/oleObject10.bin"/><Relationship Id="rId7" Type="http://schemas.openxmlformats.org/officeDocument/2006/relationships/oleObject" Target="../embeddings/oleObject12.bin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wmf"/><Relationship Id="rId5" Type="http://schemas.openxmlformats.org/officeDocument/2006/relationships/oleObject" Target="../embeddings/oleObject11.bin"/><Relationship Id="rId10" Type="http://schemas.openxmlformats.org/officeDocument/2006/relationships/image" Target="../media/image19.wmf"/><Relationship Id="rId4" Type="http://schemas.openxmlformats.org/officeDocument/2006/relationships/image" Target="../media/image16.wmf"/><Relationship Id="rId9" Type="http://schemas.openxmlformats.org/officeDocument/2006/relationships/oleObject" Target="../embeddings/oleObject13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7" Type="http://schemas.openxmlformats.org/officeDocument/2006/relationships/image" Target="../media/image22.wmf"/><Relationship Id="rId2" Type="http://schemas.openxmlformats.org/officeDocument/2006/relationships/oleObject" Target="../embeddings/oleObject14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6.bin"/><Relationship Id="rId5" Type="http://schemas.openxmlformats.org/officeDocument/2006/relationships/image" Target="../media/image21.wmf"/><Relationship Id="rId4" Type="http://schemas.openxmlformats.org/officeDocument/2006/relationships/oleObject" Target="../embeddings/oleObject15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3.wmf"/><Relationship Id="rId2" Type="http://schemas.openxmlformats.org/officeDocument/2006/relationships/oleObject" Target="../embeddings/oleObject17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wmf"/><Relationship Id="rId5" Type="http://schemas.openxmlformats.org/officeDocument/2006/relationships/oleObject" Target="../embeddings/oleObject18.bin"/><Relationship Id="rId4" Type="http://schemas.openxmlformats.org/officeDocument/2006/relationships/image" Target="../media/image24.png"/><Relationship Id="rId9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30.wmf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0.bin"/><Relationship Id="rId5" Type="http://schemas.openxmlformats.org/officeDocument/2006/relationships/image" Target="../media/image29.wmf"/><Relationship Id="rId4" Type="http://schemas.openxmlformats.org/officeDocument/2006/relationships/oleObject" Target="../embeddings/oleObject19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Relationship Id="rId9" Type="http://schemas.openxmlformats.org/officeDocument/2006/relationships/image" Target="../media/image3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3" name="Text Box 15"/>
          <p:cNvSpPr txBox="1">
            <a:spLocks noChangeArrowheads="1"/>
          </p:cNvSpPr>
          <p:nvPr/>
        </p:nvSpPr>
        <p:spPr bwMode="auto">
          <a:xfrm>
            <a:off x="755650" y="3716338"/>
            <a:ext cx="8388350" cy="287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2800" b="1" dirty="0">
                <a:solidFill>
                  <a:srgbClr val="003F6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Turbomachinery</a:t>
            </a:r>
            <a:endParaRPr lang="it-IT" b="1" dirty="0">
              <a:solidFill>
                <a:srgbClr val="003F6E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</a:endParaRPr>
          </a:p>
          <a:p>
            <a:pPr algn="ctr">
              <a:spcBef>
                <a:spcPct val="50000"/>
              </a:spcBef>
              <a:defRPr/>
            </a:pPr>
            <a:endParaRPr lang="it-IT" b="1" dirty="0">
              <a:solidFill>
                <a:srgbClr val="003F6E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</a:endParaRPr>
          </a:p>
          <a:p>
            <a:pPr algn="ctr">
              <a:spcBef>
                <a:spcPct val="50000"/>
              </a:spcBef>
              <a:defRPr/>
            </a:pPr>
            <a:r>
              <a:rPr lang="it-IT" sz="3200" b="1" dirty="0">
                <a:solidFill>
                  <a:srgbClr val="003F6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	</a:t>
            </a:r>
            <a:r>
              <a:rPr lang="it-IT" sz="3200" b="1" u="sng" dirty="0" err="1">
                <a:solidFill>
                  <a:srgbClr val="003F6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Centrifugal</a:t>
            </a:r>
            <a:r>
              <a:rPr lang="it-IT" sz="3200" b="1" u="sng" dirty="0">
                <a:solidFill>
                  <a:srgbClr val="003F6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 </a:t>
            </a:r>
            <a:r>
              <a:rPr lang="it-IT" sz="3200" b="1" u="sng" dirty="0" err="1">
                <a:solidFill>
                  <a:srgbClr val="003F6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Compressors</a:t>
            </a:r>
            <a:r>
              <a:rPr lang="it-IT" sz="3200" b="1" u="sng" dirty="0">
                <a:solidFill>
                  <a:srgbClr val="003F6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 Design</a:t>
            </a:r>
          </a:p>
          <a:p>
            <a:pPr algn="ctr">
              <a:spcBef>
                <a:spcPct val="50000"/>
              </a:spcBef>
              <a:defRPr/>
            </a:pPr>
            <a:endParaRPr lang="it-IT" sz="1400" b="1" dirty="0">
              <a:solidFill>
                <a:srgbClr val="003F6E"/>
              </a:solidFill>
            </a:endParaRPr>
          </a:p>
          <a:p>
            <a:pPr algn="ctr">
              <a:spcBef>
                <a:spcPct val="50000"/>
              </a:spcBef>
              <a:defRPr/>
            </a:pPr>
            <a:r>
              <a:rPr lang="it-IT" sz="1800" b="1" dirty="0">
                <a:solidFill>
                  <a:srgbClr val="003F6E"/>
                </a:solidFill>
              </a:rPr>
              <a:t>Prof. P. Gaetani</a:t>
            </a:r>
          </a:p>
          <a:p>
            <a:pPr algn="ctr">
              <a:spcBef>
                <a:spcPct val="50000"/>
              </a:spcBef>
              <a:defRPr/>
            </a:pPr>
            <a:r>
              <a:rPr lang="it-IT" sz="1400" b="1" dirty="0">
                <a:solidFill>
                  <a:srgbClr val="003F6E"/>
                </a:solidFill>
              </a:rPr>
              <a:t>paolo.gaetani@polimi.it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8604250" y="142875"/>
            <a:ext cx="477838" cy="246063"/>
          </a:xfrm>
          <a:noFill/>
        </p:spPr>
        <p:txBody>
          <a:bodyPr rIns="360000"/>
          <a:lstStyle/>
          <a:p>
            <a:fld id="{4BDE3090-99FE-4FCF-8260-0C9B42EE9A3E}" type="slidenum">
              <a:rPr lang="it-IT" smtClean="0"/>
              <a:pPr/>
              <a:t>2</a:t>
            </a:fld>
            <a:endParaRPr lang="it-IT"/>
          </a:p>
        </p:txBody>
      </p:sp>
      <p:sp>
        <p:nvSpPr>
          <p:cNvPr id="1033" name="Rectangle 2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>
            <a:spAutoFit/>
          </a:bodyPr>
          <a:lstStyle/>
          <a:p>
            <a:endParaRPr lang="en-GB" dirty="0"/>
          </a:p>
        </p:txBody>
      </p:sp>
      <p:sp>
        <p:nvSpPr>
          <p:cNvPr id="14" name="TextBox 13"/>
          <p:cNvSpPr txBox="1"/>
          <p:nvPr/>
        </p:nvSpPr>
        <p:spPr>
          <a:xfrm>
            <a:off x="1835696" y="1098848"/>
            <a:ext cx="47505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ctr">
              <a:spcBef>
                <a:spcPts val="0"/>
              </a:spcBef>
              <a:spcAft>
                <a:spcPts val="1800"/>
              </a:spcAft>
            </a:pPr>
            <a:r>
              <a:rPr lang="en-US" sz="3200" b="1" dirty="0">
                <a:latin typeface="Garamond" pitchFamily="18" charset="0"/>
              </a:rPr>
              <a:t>Input Data</a:t>
            </a:r>
            <a:endParaRPr lang="en-US" sz="3200" dirty="0">
              <a:latin typeface="Garamond" pitchFamily="18" charset="0"/>
            </a:endParaRPr>
          </a:p>
        </p:txBody>
      </p:sp>
      <p:sp>
        <p:nvSpPr>
          <p:cNvPr id="3" name="Rettangolo 2"/>
          <p:cNvSpPr/>
          <p:nvPr/>
        </p:nvSpPr>
        <p:spPr>
          <a:xfrm>
            <a:off x="467544" y="1683623"/>
            <a:ext cx="8424936" cy="41216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spcBef>
                <a:spcPts val="0"/>
              </a:spcBef>
              <a:spcAft>
                <a:spcPts val="500"/>
              </a:spcAft>
            </a:pPr>
            <a:r>
              <a:rPr lang="en-GB" sz="1800" dirty="0"/>
              <a:t>Intercooled compressor for industrial application:</a:t>
            </a:r>
          </a:p>
          <a:p>
            <a:pPr lvl="0">
              <a:spcBef>
                <a:spcPts val="0"/>
              </a:spcBef>
              <a:spcAft>
                <a:spcPts val="500"/>
              </a:spcAft>
            </a:pPr>
            <a:endParaRPr lang="it-IT" sz="1800" dirty="0"/>
          </a:p>
          <a:p>
            <a:pPr lvl="0">
              <a:spcBef>
                <a:spcPts val="0"/>
              </a:spcBef>
              <a:spcAft>
                <a:spcPts val="500"/>
              </a:spcAft>
            </a:pPr>
            <a:r>
              <a:rPr lang="en-GB" sz="1800" dirty="0"/>
              <a:t>Mass Flow rate:					G = 5 Kg/s</a:t>
            </a:r>
            <a:endParaRPr lang="it-IT" sz="1800" dirty="0"/>
          </a:p>
          <a:p>
            <a:pPr lvl="0">
              <a:spcBef>
                <a:spcPts val="0"/>
              </a:spcBef>
              <a:spcAft>
                <a:spcPts val="500"/>
              </a:spcAft>
            </a:pPr>
            <a:r>
              <a:rPr lang="en-GB" sz="1800" dirty="0"/>
              <a:t>Inlet total pressure:				</a:t>
            </a:r>
            <a:r>
              <a:rPr lang="en-GB" sz="1800" dirty="0" err="1"/>
              <a:t>P</a:t>
            </a:r>
            <a:r>
              <a:rPr lang="en-GB" sz="1800" baseline="-25000" dirty="0" err="1"/>
              <a:t>T,in</a:t>
            </a:r>
            <a:r>
              <a:rPr lang="en-GB" sz="1800" baseline="-25000" dirty="0"/>
              <a:t> </a:t>
            </a:r>
            <a:r>
              <a:rPr lang="en-GB" sz="1800" dirty="0"/>
              <a:t>= 1 </a:t>
            </a:r>
            <a:r>
              <a:rPr lang="en-GB" sz="1800" dirty="0" err="1"/>
              <a:t>bar</a:t>
            </a:r>
            <a:r>
              <a:rPr lang="en-GB" sz="1800" baseline="-25000" dirty="0" err="1"/>
              <a:t>A</a:t>
            </a:r>
            <a:endParaRPr lang="it-IT" sz="1800" dirty="0"/>
          </a:p>
          <a:p>
            <a:pPr lvl="0">
              <a:spcBef>
                <a:spcPts val="0"/>
              </a:spcBef>
              <a:spcAft>
                <a:spcPts val="500"/>
              </a:spcAft>
            </a:pPr>
            <a:r>
              <a:rPr lang="en-GB" sz="1800" dirty="0"/>
              <a:t>Inlet total temperature:				</a:t>
            </a:r>
            <a:r>
              <a:rPr lang="en-GB" sz="1800" dirty="0" err="1"/>
              <a:t>T</a:t>
            </a:r>
            <a:r>
              <a:rPr lang="en-GB" sz="1800" baseline="-25000" dirty="0" err="1"/>
              <a:t>T,in</a:t>
            </a:r>
            <a:r>
              <a:rPr lang="en-GB" sz="1800" baseline="-25000" dirty="0"/>
              <a:t> </a:t>
            </a:r>
            <a:r>
              <a:rPr lang="en-GB" sz="1800" dirty="0"/>
              <a:t>= 20 °C</a:t>
            </a:r>
            <a:endParaRPr lang="it-IT" sz="1800" dirty="0"/>
          </a:p>
          <a:p>
            <a:pPr lvl="0">
              <a:spcBef>
                <a:spcPts val="0"/>
              </a:spcBef>
              <a:spcAft>
                <a:spcPts val="500"/>
              </a:spcAft>
            </a:pPr>
            <a:r>
              <a:rPr lang="en-GB" sz="1800" dirty="0"/>
              <a:t>Outlet total pressure:				</a:t>
            </a:r>
            <a:r>
              <a:rPr lang="en-GB" sz="1800" dirty="0" err="1"/>
              <a:t>P</a:t>
            </a:r>
            <a:r>
              <a:rPr lang="en-GB" sz="1800" baseline="-25000" dirty="0" err="1"/>
              <a:t>T,out</a:t>
            </a:r>
            <a:r>
              <a:rPr lang="en-GB" sz="1800" baseline="-25000" dirty="0"/>
              <a:t> </a:t>
            </a:r>
            <a:r>
              <a:rPr lang="en-GB" sz="1800" dirty="0"/>
              <a:t>= 4 </a:t>
            </a:r>
            <a:r>
              <a:rPr lang="en-GB" sz="1800" dirty="0" err="1"/>
              <a:t>bar</a:t>
            </a:r>
            <a:r>
              <a:rPr lang="en-GB" sz="1800" baseline="-25000" dirty="0" err="1"/>
              <a:t>A</a:t>
            </a:r>
            <a:endParaRPr lang="it-IT" sz="1800" dirty="0"/>
          </a:p>
          <a:p>
            <a:pPr lvl="0">
              <a:spcBef>
                <a:spcPts val="0"/>
              </a:spcBef>
              <a:spcAft>
                <a:spcPts val="500"/>
              </a:spcAft>
            </a:pPr>
            <a:r>
              <a:rPr lang="en-GB" sz="1800" dirty="0"/>
              <a:t>Averaged adiabatic efficiency:			</a:t>
            </a:r>
            <a:r>
              <a:rPr lang="en-GB" sz="1800" dirty="0">
                <a:latin typeface="Symbol" panose="05050102010706020507" pitchFamily="18" charset="2"/>
              </a:rPr>
              <a:t>h</a:t>
            </a:r>
            <a:r>
              <a:rPr lang="en-GB" sz="1800" baseline="-25000" dirty="0"/>
              <a:t>ad</a:t>
            </a:r>
            <a:r>
              <a:rPr lang="en-GB" sz="1800" dirty="0"/>
              <a:t> = 0.85</a:t>
            </a:r>
            <a:endParaRPr lang="it-IT" sz="1800" dirty="0"/>
          </a:p>
          <a:p>
            <a:pPr lvl="0">
              <a:spcBef>
                <a:spcPts val="0"/>
              </a:spcBef>
              <a:spcAft>
                <a:spcPts val="500"/>
              </a:spcAft>
            </a:pPr>
            <a:r>
              <a:rPr lang="en-GB" sz="1800" dirty="0"/>
              <a:t>Rotor Blade thickness (in tangential direction):	t = 2 mm</a:t>
            </a:r>
            <a:endParaRPr lang="it-IT" sz="1800" dirty="0"/>
          </a:p>
          <a:p>
            <a:pPr lvl="0">
              <a:spcBef>
                <a:spcPts val="0"/>
              </a:spcBef>
              <a:spcAft>
                <a:spcPts val="500"/>
              </a:spcAft>
            </a:pPr>
            <a:r>
              <a:rPr lang="en-GB" sz="1800" dirty="0"/>
              <a:t>Rotor outlet flow angle:				</a:t>
            </a:r>
            <a:r>
              <a:rPr lang="en-GB" sz="1800" dirty="0">
                <a:latin typeface="Symbol" panose="05050102010706020507" pitchFamily="18" charset="2"/>
              </a:rPr>
              <a:t>a</a:t>
            </a:r>
            <a:r>
              <a:rPr lang="en-GB" sz="1800" baseline="-25000" dirty="0"/>
              <a:t>2</a:t>
            </a:r>
            <a:r>
              <a:rPr lang="en-GB" sz="1800" dirty="0"/>
              <a:t> &lt; 70°</a:t>
            </a:r>
            <a:endParaRPr lang="it-IT" sz="1800" dirty="0"/>
          </a:p>
          <a:p>
            <a:pPr lvl="0">
              <a:spcBef>
                <a:spcPts val="0"/>
              </a:spcBef>
              <a:spcAft>
                <a:spcPts val="500"/>
              </a:spcAft>
            </a:pPr>
            <a:r>
              <a:rPr lang="en-GB" sz="1800" dirty="0"/>
              <a:t>Inlet Temperature after inter-cooling:		</a:t>
            </a:r>
            <a:r>
              <a:rPr lang="en-GB" sz="1800" dirty="0" err="1"/>
              <a:t>T</a:t>
            </a:r>
            <a:r>
              <a:rPr lang="en-GB" sz="1800" baseline="-25000" dirty="0" err="1"/>
              <a:t>i</a:t>
            </a:r>
            <a:r>
              <a:rPr lang="en-GB" sz="1800" baseline="-25000" dirty="0"/>
              <a:t> </a:t>
            </a:r>
            <a:r>
              <a:rPr lang="en-GB" sz="1800" dirty="0"/>
              <a:t>= 35°C</a:t>
            </a:r>
            <a:endParaRPr lang="it-IT" sz="1800" dirty="0"/>
          </a:p>
          <a:p>
            <a:pPr lvl="0">
              <a:spcBef>
                <a:spcPts val="0"/>
              </a:spcBef>
              <a:spcAft>
                <a:spcPts val="500"/>
              </a:spcAft>
            </a:pPr>
            <a:r>
              <a:rPr lang="en-GB" sz="1800" dirty="0"/>
              <a:t>Max inlet temperature in the intercooler:		T</a:t>
            </a:r>
            <a:r>
              <a:rPr lang="en-GB" sz="1800" baseline="-25000" dirty="0"/>
              <a:t>m</a:t>
            </a:r>
            <a:r>
              <a:rPr lang="en-GB" sz="1800" dirty="0"/>
              <a:t> = 110°C</a:t>
            </a:r>
            <a:endParaRPr lang="it-IT" sz="1800" dirty="0"/>
          </a:p>
          <a:p>
            <a:pPr lvl="0">
              <a:spcBef>
                <a:spcPts val="0"/>
              </a:spcBef>
              <a:spcAft>
                <a:spcPts val="500"/>
              </a:spcAft>
            </a:pPr>
            <a:r>
              <a:rPr lang="en-GB" sz="1800" dirty="0"/>
              <a:t>No pressure loss in the intercooler</a:t>
            </a:r>
            <a:endParaRPr lang="it-IT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2" descr="baljecomprex"/>
          <p:cNvPicPr>
            <a:picLocks noChangeAspect="1" noChangeArrowheads="1"/>
          </p:cNvPicPr>
          <p:nvPr/>
        </p:nvPicPr>
        <p:blipFill>
          <a:blip r:embed="rId2" cstate="print"/>
          <a:srcRect l="3770" t="3308" r="5280" b="7719"/>
          <a:stretch>
            <a:fillRect/>
          </a:stretch>
        </p:blipFill>
        <p:spPr bwMode="auto">
          <a:xfrm>
            <a:off x="899592" y="836712"/>
            <a:ext cx="7595287" cy="50727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7" name="Title 1"/>
          <p:cNvSpPr>
            <a:spLocks noGrp="1"/>
          </p:cNvSpPr>
          <p:nvPr>
            <p:ph type="title"/>
          </p:nvPr>
        </p:nvSpPr>
        <p:spPr>
          <a:xfrm>
            <a:off x="3833131" y="260648"/>
            <a:ext cx="2376264" cy="428625"/>
          </a:xfrm>
          <a:solidFill>
            <a:schemeClr val="bg1"/>
          </a:solidFill>
        </p:spPr>
        <p:txBody>
          <a:bodyPr/>
          <a:lstStyle/>
          <a:p>
            <a:r>
              <a:rPr lang="it-IT" sz="2000" dirty="0"/>
              <a:t>First </a:t>
            </a:r>
            <a:r>
              <a:rPr lang="it-IT" sz="2000" dirty="0" err="1"/>
              <a:t>Guess</a:t>
            </a:r>
            <a:endParaRPr lang="en-GB" sz="2000" dirty="0"/>
          </a:p>
        </p:txBody>
      </p:sp>
      <p:sp>
        <p:nvSpPr>
          <p:cNvPr id="1028" name="Rectangle 15"/>
          <p:cNvSpPr>
            <a:spLocks noChangeArrowheads="1"/>
          </p:cNvSpPr>
          <p:nvPr/>
        </p:nvSpPr>
        <p:spPr bwMode="auto">
          <a:xfrm>
            <a:off x="449263" y="16954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>
            <a:spAutoFit/>
          </a:bodyPr>
          <a:lstStyle/>
          <a:p>
            <a:pPr indent="180975"/>
            <a:r>
              <a:rPr lang="it-IT" sz="1600">
                <a:latin typeface="Garamond" pitchFamily="18" charset="0"/>
                <a:cs typeface="Times New Roman" pitchFamily="18" charset="0"/>
              </a:rPr>
              <a:t>			</a:t>
            </a:r>
            <a:endParaRPr lang="it-IT"/>
          </a:p>
        </p:txBody>
      </p:sp>
      <p:sp>
        <p:nvSpPr>
          <p:cNvPr id="1029" name="Rectangle 17"/>
          <p:cNvSpPr>
            <a:spLocks noChangeArrowheads="1"/>
          </p:cNvSpPr>
          <p:nvPr/>
        </p:nvSpPr>
        <p:spPr bwMode="auto">
          <a:xfrm>
            <a:off x="1349375" y="31432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>
            <a:spAutoFit/>
          </a:bodyPr>
          <a:lstStyle/>
          <a:p>
            <a:pPr indent="449263"/>
            <a:r>
              <a:rPr lang="it-IT" sz="1600">
                <a:latin typeface="Garamond" pitchFamily="18" charset="0"/>
                <a:cs typeface="Times New Roman" pitchFamily="18" charset="0"/>
              </a:rPr>
              <a:t>				</a:t>
            </a:r>
            <a:endParaRPr lang="it-IT"/>
          </a:p>
        </p:txBody>
      </p:sp>
      <p:sp>
        <p:nvSpPr>
          <p:cNvPr id="1030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>
            <a:spAutoFit/>
          </a:bodyPr>
          <a:lstStyle/>
          <a:p>
            <a:endParaRPr lang="en-GB" dirty="0"/>
          </a:p>
        </p:txBody>
      </p:sp>
      <p:sp>
        <p:nvSpPr>
          <p:cNvPr id="1031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>
            <a:spAutoFit/>
          </a:bodyPr>
          <a:lstStyle/>
          <a:p>
            <a:endParaRPr lang="en-GB" dirty="0"/>
          </a:p>
        </p:txBody>
      </p:sp>
      <p:sp>
        <p:nvSpPr>
          <p:cNvPr id="103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>
            <a:spAutoFit/>
          </a:bodyPr>
          <a:lstStyle/>
          <a:p>
            <a:endParaRPr lang="en-GB" dirty="0"/>
          </a:p>
        </p:txBody>
      </p:sp>
      <p:sp>
        <p:nvSpPr>
          <p:cNvPr id="1033" name="Rectangle 17"/>
          <p:cNvSpPr>
            <a:spLocks noChangeArrowheads="1"/>
          </p:cNvSpPr>
          <p:nvPr/>
        </p:nvSpPr>
        <p:spPr bwMode="auto">
          <a:xfrm>
            <a:off x="0" y="76962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>
            <a:spAutoFit/>
          </a:bodyPr>
          <a:lstStyle/>
          <a:p>
            <a:endParaRPr lang="en-US" dirty="0"/>
          </a:p>
        </p:txBody>
      </p:sp>
      <p:cxnSp>
        <p:nvCxnSpPr>
          <p:cNvPr id="1034" name="Straight Arrow Connector 20"/>
          <p:cNvCxnSpPr>
            <a:cxnSpLocks noChangeShapeType="1"/>
          </p:cNvCxnSpPr>
          <p:nvPr/>
        </p:nvCxnSpPr>
        <p:spPr bwMode="auto">
          <a:xfrm>
            <a:off x="7858125" y="1857375"/>
            <a:ext cx="914400" cy="914400"/>
          </a:xfrm>
          <a:prstGeom prst="straightConnector1">
            <a:avLst/>
          </a:prstGeom>
          <a:noFill/>
          <a:ln w="9525" algn="ctr">
            <a:noFill/>
            <a:round/>
            <a:headEnd/>
            <a:tailEnd type="arrow" w="med" len="med"/>
          </a:ln>
        </p:spPr>
      </p:cxnSp>
      <p:sp>
        <p:nvSpPr>
          <p:cNvPr id="1063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8666163" y="142875"/>
            <a:ext cx="477837" cy="246063"/>
          </a:xfrm>
          <a:noFill/>
        </p:spPr>
        <p:txBody>
          <a:bodyPr rIns="360000"/>
          <a:lstStyle/>
          <a:p>
            <a:fld id="{57F3B0D1-BE67-44C5-A414-FF4B1561A11F}" type="slidenum">
              <a:rPr lang="it-IT" smtClean="0"/>
              <a:pPr/>
              <a:t>3</a:t>
            </a:fld>
            <a:endParaRPr lang="it-IT"/>
          </a:p>
        </p:txBody>
      </p:sp>
      <p:graphicFrame>
        <p:nvGraphicFramePr>
          <p:cNvPr id="3584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34359043"/>
              </p:ext>
            </p:extLst>
          </p:nvPr>
        </p:nvGraphicFramePr>
        <p:xfrm>
          <a:off x="5796136" y="1094904"/>
          <a:ext cx="760412" cy="573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571320" imgH="431640" progId="Equation.3">
                  <p:embed/>
                </p:oleObj>
              </mc:Choice>
              <mc:Fallback>
                <p:oleObj name="Equation" r:id="rId3" imgW="571320" imgH="43164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6136" y="1094904"/>
                        <a:ext cx="760412" cy="57308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23692765"/>
              </p:ext>
            </p:extLst>
          </p:nvPr>
        </p:nvGraphicFramePr>
        <p:xfrm>
          <a:off x="7405688" y="5661025"/>
          <a:ext cx="1143000" cy="655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zione" r:id="rId5" imgW="685800" imgH="393480" progId="Equation.3">
                  <p:embed/>
                </p:oleObj>
              </mc:Choice>
              <mc:Fallback>
                <p:oleObj name="Equazione" r:id="rId5" imgW="68580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05688" y="5661025"/>
                        <a:ext cx="1143000" cy="65563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9586051"/>
              </p:ext>
            </p:extLst>
          </p:nvPr>
        </p:nvGraphicFramePr>
        <p:xfrm>
          <a:off x="899592" y="836712"/>
          <a:ext cx="1066800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zione" r:id="rId7" imgW="749160" imgH="406080" progId="Equation.3">
                  <p:embed/>
                </p:oleObj>
              </mc:Choice>
              <mc:Fallback>
                <p:oleObj name="Equazione" r:id="rId7" imgW="749160" imgH="406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9592" y="836712"/>
                        <a:ext cx="1066800" cy="5778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ggetto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90655111"/>
              </p:ext>
            </p:extLst>
          </p:nvPr>
        </p:nvGraphicFramePr>
        <p:xfrm>
          <a:off x="401222" y="6021288"/>
          <a:ext cx="924342" cy="396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zione" r:id="rId9" imgW="355320" imgH="152280" progId="Equation.3">
                  <p:embed/>
                </p:oleObj>
              </mc:Choice>
              <mc:Fallback>
                <p:oleObj name="Equazione" r:id="rId9" imgW="355320" imgH="15228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1222" y="6021288"/>
                        <a:ext cx="924342" cy="396975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ggetto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45395270"/>
              </p:ext>
            </p:extLst>
          </p:nvPr>
        </p:nvGraphicFramePr>
        <p:xfrm>
          <a:off x="1476557" y="6042554"/>
          <a:ext cx="1001142" cy="3672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zione" r:id="rId11" imgW="482400" imgH="177480" progId="Equation.3">
                  <p:embed/>
                </p:oleObj>
              </mc:Choice>
              <mc:Fallback>
                <p:oleObj name="Equazione" r:id="rId11" imgW="482400" imgH="17748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557" y="6042554"/>
                        <a:ext cx="1001142" cy="367283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ggetto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08937747"/>
              </p:ext>
            </p:extLst>
          </p:nvPr>
        </p:nvGraphicFramePr>
        <p:xfrm>
          <a:off x="2721725" y="6050764"/>
          <a:ext cx="1107442" cy="3678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zione" r:id="rId13" imgW="533160" imgH="177480" progId="Equation.3">
                  <p:embed/>
                </p:oleObj>
              </mc:Choice>
              <mc:Fallback>
                <p:oleObj name="Equazione" r:id="rId13" imgW="533160" imgH="177480" progId="Equation.3">
                  <p:embed/>
                  <p:pic>
                    <p:nvPicPr>
                      <p:cNvPr id="0" name="Oggetto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21725" y="6050764"/>
                        <a:ext cx="1107442" cy="367829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Ovale 4">
            <a:extLst>
              <a:ext uri="{FF2B5EF4-FFF2-40B4-BE49-F238E27FC236}">
                <a16:creationId xmlns:a16="http://schemas.microsoft.com/office/drawing/2014/main" id="{BC98AD4C-FDDA-4720-920E-D92FF590382C}"/>
              </a:ext>
            </a:extLst>
          </p:cNvPr>
          <p:cNvSpPr/>
          <p:nvPr/>
        </p:nvSpPr>
        <p:spPr bwMode="auto">
          <a:xfrm>
            <a:off x="4566493" y="3411294"/>
            <a:ext cx="216024" cy="206863"/>
          </a:xfrm>
          <a:prstGeom prst="ellipse">
            <a:avLst/>
          </a:prstGeom>
          <a:solidFill>
            <a:srgbClr val="FF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E6D3207A-C374-4A93-A930-A62B629EC552}"/>
              </a:ext>
            </a:extLst>
          </p:cNvPr>
          <p:cNvSpPr/>
          <p:nvPr/>
        </p:nvSpPr>
        <p:spPr bwMode="auto">
          <a:xfrm rot="1414790">
            <a:off x="4396072" y="2315853"/>
            <a:ext cx="2592288" cy="977551"/>
          </a:xfrm>
          <a:prstGeom prst="rect">
            <a:avLst/>
          </a:prstGeom>
          <a:solidFill>
            <a:srgbClr val="FFFF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Radial / axial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1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8666163" y="142875"/>
            <a:ext cx="477837" cy="246063"/>
          </a:xfrm>
          <a:noFill/>
        </p:spPr>
        <p:txBody>
          <a:bodyPr rIns="360000"/>
          <a:lstStyle/>
          <a:p>
            <a:fld id="{7064E6CC-FC8B-44EA-9278-DE18FC5AD76E}" type="slidenum">
              <a:rPr lang="it-IT" smtClean="0"/>
              <a:pPr/>
              <a:t>4</a:t>
            </a:fld>
            <a:endParaRPr lang="it-IT"/>
          </a:p>
        </p:txBody>
      </p:sp>
      <p:sp>
        <p:nvSpPr>
          <p:cNvPr id="9225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>
            <a:spAutoFit/>
          </a:bodyPr>
          <a:lstStyle/>
          <a:p>
            <a:endParaRPr lang="en-GB"/>
          </a:p>
        </p:txBody>
      </p:sp>
      <p:sp>
        <p:nvSpPr>
          <p:cNvPr id="9226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>
            <a:spAutoFit/>
          </a:bodyPr>
          <a:lstStyle/>
          <a:p>
            <a:endParaRPr lang="en-GB"/>
          </a:p>
        </p:txBody>
      </p:sp>
      <p:sp>
        <p:nvSpPr>
          <p:cNvPr id="9227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>
            <a:spAutoFit/>
          </a:bodyPr>
          <a:lstStyle/>
          <a:p>
            <a:endParaRPr lang="en-GB"/>
          </a:p>
        </p:txBody>
      </p:sp>
      <p:sp>
        <p:nvSpPr>
          <p:cNvPr id="9228" name="Rectangle 17"/>
          <p:cNvSpPr>
            <a:spLocks noChangeArrowheads="1"/>
          </p:cNvSpPr>
          <p:nvPr/>
        </p:nvSpPr>
        <p:spPr bwMode="auto">
          <a:xfrm>
            <a:off x="0" y="76962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29" name="Title 1"/>
          <p:cNvSpPr txBox="1">
            <a:spLocks/>
          </p:cNvSpPr>
          <p:nvPr/>
        </p:nvSpPr>
        <p:spPr bwMode="auto">
          <a:xfrm>
            <a:off x="980887" y="4266779"/>
            <a:ext cx="2316563" cy="42862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3F6E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3F6E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3F6E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3F6E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3F6E"/>
                </a:solidFill>
                <a:latin typeface="Arial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3F6E"/>
                </a:solidFill>
                <a:latin typeface="Arial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3F6E"/>
                </a:solidFill>
                <a:latin typeface="Arial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3F6E"/>
                </a:solidFill>
                <a:latin typeface="Arial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3F6E"/>
                </a:solidFill>
                <a:latin typeface="Arial" charset="0"/>
              </a:defRPr>
            </a:lvl9pPr>
          </a:lstStyle>
          <a:p>
            <a:r>
              <a:rPr lang="it-IT" sz="2400" kern="0" dirty="0"/>
              <a:t>SLIP FACTOR</a:t>
            </a:r>
            <a:endParaRPr lang="en-GB" sz="2400" kern="0" dirty="0"/>
          </a:p>
        </p:txBody>
      </p:sp>
      <p:sp>
        <p:nvSpPr>
          <p:cNvPr id="30" name="TextBox 20"/>
          <p:cNvSpPr txBox="1">
            <a:spLocks noChangeArrowheads="1"/>
          </p:cNvSpPr>
          <p:nvPr/>
        </p:nvSpPr>
        <p:spPr bwMode="auto">
          <a:xfrm>
            <a:off x="921186" y="4957567"/>
            <a:ext cx="492157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it-IT" sz="1600" b="1" i="1" dirty="0" err="1">
                <a:latin typeface="Garamond" pitchFamily="18" charset="0"/>
              </a:rPr>
              <a:t>Stanitz</a:t>
            </a:r>
            <a:r>
              <a:rPr lang="it-IT" sz="1600" i="1" dirty="0">
                <a:latin typeface="Garamond" pitchFamily="18" charset="0"/>
              </a:rPr>
              <a:t>:</a:t>
            </a:r>
            <a:r>
              <a:rPr lang="it-IT" sz="1600" dirty="0">
                <a:latin typeface="Garamond" pitchFamily="18" charset="0"/>
              </a:rPr>
              <a:t> (found for  </a:t>
            </a:r>
            <a:r>
              <a:rPr lang="it-IT" sz="1600" dirty="0">
                <a:latin typeface="Symbol" pitchFamily="18" charset="2"/>
              </a:rPr>
              <a:t>b</a:t>
            </a:r>
            <a:r>
              <a:rPr lang="it-IT" sz="1600" baseline="-25000" dirty="0">
                <a:latin typeface="Garamond" pitchFamily="18" charset="0"/>
              </a:rPr>
              <a:t>2,g</a:t>
            </a:r>
            <a:r>
              <a:rPr lang="it-IT" sz="1600" dirty="0">
                <a:latin typeface="Garamond" pitchFamily="18" charset="0"/>
              </a:rPr>
              <a:t>= 0° ; good approx in  </a:t>
            </a:r>
            <a:r>
              <a:rPr lang="it-IT" sz="1600" dirty="0">
                <a:latin typeface="Symbol" pitchFamily="18" charset="2"/>
              </a:rPr>
              <a:t>b</a:t>
            </a:r>
            <a:r>
              <a:rPr lang="it-IT" sz="1600" baseline="-25000" dirty="0">
                <a:latin typeface="Garamond" pitchFamily="18" charset="0"/>
              </a:rPr>
              <a:t>2,g  </a:t>
            </a:r>
            <a:r>
              <a:rPr lang="it-IT" sz="1600" dirty="0">
                <a:latin typeface="Garamond" pitchFamily="18" charset="0"/>
                <a:sym typeface="Symbol" pitchFamily="18" charset="2"/>
              </a:rPr>
              <a:t></a:t>
            </a:r>
            <a:r>
              <a:rPr lang="it-IT" sz="1600" dirty="0">
                <a:latin typeface="Garamond" pitchFamily="18" charset="0"/>
              </a:rPr>
              <a:t> 45°)</a:t>
            </a:r>
            <a:endParaRPr lang="en-GB" sz="1600" dirty="0">
              <a:latin typeface="Garamond" pitchFamily="18" charset="0"/>
            </a:endParaRPr>
          </a:p>
        </p:txBody>
      </p:sp>
      <p:graphicFrame>
        <p:nvGraphicFramePr>
          <p:cNvPr id="31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9972857"/>
              </p:ext>
            </p:extLst>
          </p:nvPr>
        </p:nvGraphicFramePr>
        <p:xfrm>
          <a:off x="5839314" y="4885559"/>
          <a:ext cx="1363663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39600" imgH="393480" progId="Equation.3">
                  <p:embed/>
                </p:oleObj>
              </mc:Choice>
              <mc:Fallback>
                <p:oleObj name="Equation" r:id="rId2" imgW="93960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39314" y="4885559"/>
                        <a:ext cx="1363663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03297423"/>
              </p:ext>
            </p:extLst>
          </p:nvPr>
        </p:nvGraphicFramePr>
        <p:xfrm>
          <a:off x="3945522" y="4134222"/>
          <a:ext cx="3001962" cy="693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zione" r:id="rId4" imgW="2031840" imgH="469800" progId="Equation.3">
                  <p:embed/>
                </p:oleObj>
              </mc:Choice>
              <mc:Fallback>
                <p:oleObj name="Equazione" r:id="rId4" imgW="2031840" imgH="469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45522" y="4134222"/>
                        <a:ext cx="3001962" cy="693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itle 1"/>
          <p:cNvSpPr txBox="1">
            <a:spLocks/>
          </p:cNvSpPr>
          <p:nvPr/>
        </p:nvSpPr>
        <p:spPr bwMode="auto">
          <a:xfrm>
            <a:off x="453931" y="1008721"/>
            <a:ext cx="2275414" cy="42862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3F6E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3F6E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3F6E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3F6E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3F6E"/>
                </a:solidFill>
                <a:latin typeface="Arial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3F6E"/>
                </a:solidFill>
                <a:latin typeface="Arial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3F6E"/>
                </a:solidFill>
                <a:latin typeface="Arial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3F6E"/>
                </a:solidFill>
                <a:latin typeface="Arial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3F6E"/>
                </a:solidFill>
                <a:latin typeface="Arial" charset="0"/>
              </a:defRPr>
            </a:lvl9pPr>
          </a:lstStyle>
          <a:p>
            <a:r>
              <a:rPr lang="it-IT" sz="2400" kern="0" dirty="0" err="1"/>
              <a:t>Blades</a:t>
            </a:r>
            <a:r>
              <a:rPr lang="it-IT" sz="2400" kern="0" dirty="0"/>
              <a:t> </a:t>
            </a:r>
            <a:r>
              <a:rPr lang="it-IT" sz="2400" kern="0" dirty="0" err="1"/>
              <a:t>count</a:t>
            </a:r>
            <a:endParaRPr lang="en-GB" sz="2400" kern="0" dirty="0"/>
          </a:p>
        </p:txBody>
      </p:sp>
      <p:graphicFrame>
        <p:nvGraphicFramePr>
          <p:cNvPr id="2" name="Oggetto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9787822"/>
              </p:ext>
            </p:extLst>
          </p:nvPr>
        </p:nvGraphicFramePr>
        <p:xfrm>
          <a:off x="2860722" y="743110"/>
          <a:ext cx="1620838" cy="857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104900" imgH="584200" progId="Equation.3">
                  <p:embed/>
                </p:oleObj>
              </mc:Choice>
              <mc:Fallback>
                <p:oleObj name="Equation" r:id="rId6" imgW="1104900" imgH="5842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60722" y="743110"/>
                        <a:ext cx="1620838" cy="857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itle 1"/>
          <p:cNvSpPr>
            <a:spLocks noGrp="1"/>
          </p:cNvSpPr>
          <p:nvPr>
            <p:ph type="title"/>
          </p:nvPr>
        </p:nvSpPr>
        <p:spPr>
          <a:xfrm>
            <a:off x="827584" y="116632"/>
            <a:ext cx="2304256" cy="432048"/>
          </a:xfrm>
          <a:solidFill>
            <a:schemeClr val="bg1"/>
          </a:solidFill>
        </p:spPr>
        <p:txBody>
          <a:bodyPr/>
          <a:lstStyle/>
          <a:p>
            <a:r>
              <a:rPr lang="it-IT" sz="2400" dirty="0"/>
              <a:t>       ROTOR </a:t>
            </a:r>
            <a:endParaRPr lang="en-GB" sz="2400" dirty="0">
              <a:solidFill>
                <a:srgbClr val="FF0000"/>
              </a:solidFill>
              <a:latin typeface="Garamond" pitchFamily="18" charset="0"/>
            </a:endParaRPr>
          </a:p>
        </p:txBody>
      </p:sp>
      <p:sp>
        <p:nvSpPr>
          <p:cNvPr id="3" name="Freccia a destra 2"/>
          <p:cNvSpPr/>
          <p:nvPr/>
        </p:nvSpPr>
        <p:spPr bwMode="auto">
          <a:xfrm>
            <a:off x="1043608" y="2676908"/>
            <a:ext cx="792088" cy="214312"/>
          </a:xfrm>
          <a:prstGeom prst="rightArrow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4" name="Freccia a destra 23"/>
          <p:cNvSpPr/>
          <p:nvPr/>
        </p:nvSpPr>
        <p:spPr bwMode="auto">
          <a:xfrm>
            <a:off x="3779912" y="5510642"/>
            <a:ext cx="792088" cy="214312"/>
          </a:xfrm>
          <a:prstGeom prst="rightArrow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5" name="TextBox 20"/>
          <p:cNvSpPr txBox="1">
            <a:spLocks noChangeArrowheads="1"/>
          </p:cNvSpPr>
          <p:nvPr/>
        </p:nvSpPr>
        <p:spPr bwMode="auto">
          <a:xfrm>
            <a:off x="4572000" y="5448521"/>
            <a:ext cx="3456384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it-IT" sz="1600" dirty="0">
                <a:latin typeface="Garamond" pitchFamily="18" charset="0"/>
              </a:rPr>
              <a:t> </a:t>
            </a:r>
            <a:r>
              <a:rPr lang="it-IT" sz="1600" dirty="0">
                <a:latin typeface="Symbol" pitchFamily="18" charset="2"/>
              </a:rPr>
              <a:t>b</a:t>
            </a:r>
            <a:r>
              <a:rPr lang="it-IT" sz="1600" baseline="-25000" dirty="0">
                <a:latin typeface="Garamond" pitchFamily="18" charset="0"/>
              </a:rPr>
              <a:t>2,g  </a:t>
            </a:r>
            <a:r>
              <a:rPr lang="it-IT" sz="1600" dirty="0">
                <a:latin typeface="Garamond" pitchFamily="18" charset="0"/>
                <a:sym typeface="Symbol" pitchFamily="18" charset="2"/>
              </a:rPr>
              <a:t>= ….. </a:t>
            </a:r>
            <a:endParaRPr lang="en-GB" sz="1600" dirty="0">
              <a:latin typeface="Garamond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Object 6">
                <a:extLst>
                  <a:ext uri="{FF2B5EF4-FFF2-40B4-BE49-F238E27FC236}">
                    <a16:creationId xmlns:a16="http://schemas.microsoft.com/office/drawing/2014/main" id="{09DE6379-30F0-4C5A-ADDF-E38B831C4A3C}"/>
                  </a:ext>
                </a:extLst>
              </p:cNvPr>
              <p:cNvSpPr txBox="1"/>
              <p:nvPr/>
            </p:nvSpPr>
            <p:spPr bwMode="auto">
              <a:xfrm>
                <a:off x="6218896" y="822661"/>
                <a:ext cx="1992585" cy="57245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62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l-GR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l-G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β</m:t>
                          </m:r>
                        </m:e>
                      </m:acc>
                      <m:r>
                        <a:rPr lang="en-GB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it-IT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it-IT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GB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it-IT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it-IT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8" name="Object 6">
                <a:extLst>
                  <a:ext uri="{FF2B5EF4-FFF2-40B4-BE49-F238E27FC236}">
                    <a16:creationId xmlns:a16="http://schemas.microsoft.com/office/drawing/2014/main" id="{09DE6379-30F0-4C5A-ADDF-E38B831C4A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218896" y="822661"/>
                <a:ext cx="1992585" cy="57245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ffectLst/>
              <a:extLst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Title 1">
            <a:extLst>
              <a:ext uri="{FF2B5EF4-FFF2-40B4-BE49-F238E27FC236}">
                <a16:creationId xmlns:a16="http://schemas.microsoft.com/office/drawing/2014/main" id="{F13AC8ED-7047-4992-8B2D-30B5A2FC60BF}"/>
              </a:ext>
            </a:extLst>
          </p:cNvPr>
          <p:cNvSpPr txBox="1">
            <a:spLocks/>
          </p:cNvSpPr>
          <p:nvPr/>
        </p:nvSpPr>
        <p:spPr bwMode="auto">
          <a:xfrm>
            <a:off x="890305" y="1824876"/>
            <a:ext cx="7128792" cy="42862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3F6E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3F6E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3F6E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3F6E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3F6E"/>
                </a:solidFill>
                <a:latin typeface="Arial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3F6E"/>
                </a:solidFill>
                <a:latin typeface="Arial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3F6E"/>
                </a:solidFill>
                <a:latin typeface="Arial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3F6E"/>
                </a:solidFill>
                <a:latin typeface="Arial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3F6E"/>
                </a:solidFill>
                <a:latin typeface="Arial" charset="0"/>
              </a:defRPr>
            </a:lvl9pPr>
          </a:lstStyle>
          <a:p>
            <a:r>
              <a:rPr lang="it-IT" sz="1800" kern="0" dirty="0">
                <a:solidFill>
                  <a:srgbClr val="FF0000"/>
                </a:solidFill>
              </a:rPr>
              <a:t>0.4</a:t>
            </a:r>
            <a:r>
              <a:rPr lang="it-IT" sz="1800" b="0" kern="0" dirty="0">
                <a:solidFill>
                  <a:schemeClr val="tx1"/>
                </a:solidFill>
              </a:rPr>
              <a:t> = </a:t>
            </a:r>
            <a:r>
              <a:rPr lang="it-IT" sz="1800" b="0" kern="0" dirty="0" err="1">
                <a:solidFill>
                  <a:schemeClr val="tx1"/>
                </a:solidFill>
              </a:rPr>
              <a:t>constant</a:t>
            </a:r>
            <a:r>
              <a:rPr lang="it-IT" sz="1800" b="0" kern="0" dirty="0">
                <a:solidFill>
                  <a:schemeClr val="tx1"/>
                </a:solidFill>
              </a:rPr>
              <a:t> </a:t>
            </a:r>
            <a:r>
              <a:rPr lang="it-IT" sz="1800" b="0" kern="0" dirty="0" err="1">
                <a:solidFill>
                  <a:schemeClr val="tx1"/>
                </a:solidFill>
              </a:rPr>
              <a:t>representative</a:t>
            </a:r>
            <a:r>
              <a:rPr lang="it-IT" sz="1800" b="0" kern="0" dirty="0">
                <a:solidFill>
                  <a:schemeClr val="tx1"/>
                </a:solidFill>
              </a:rPr>
              <a:t> of the </a:t>
            </a:r>
            <a:r>
              <a:rPr lang="it-IT" sz="1800" b="0" kern="0" dirty="0" err="1">
                <a:solidFill>
                  <a:schemeClr val="tx1"/>
                </a:solidFill>
              </a:rPr>
              <a:t>optimal</a:t>
            </a:r>
            <a:r>
              <a:rPr lang="it-IT" sz="1800" b="0" kern="0" dirty="0">
                <a:solidFill>
                  <a:schemeClr val="tx1"/>
                </a:solidFill>
              </a:rPr>
              <a:t> </a:t>
            </a:r>
            <a:r>
              <a:rPr lang="it-IT" sz="1800" b="0" kern="0" dirty="0" err="1">
                <a:solidFill>
                  <a:schemeClr val="tx1"/>
                </a:solidFill>
              </a:rPr>
              <a:t>solidity</a:t>
            </a:r>
            <a:endParaRPr lang="en-GB" sz="1800" b="0" kern="0" dirty="0">
              <a:solidFill>
                <a:schemeClr val="tx1"/>
              </a:solidFill>
            </a:endParaRPr>
          </a:p>
        </p:txBody>
      </p:sp>
      <p:sp>
        <p:nvSpPr>
          <p:cNvPr id="35" name="Title 1">
            <a:extLst>
              <a:ext uri="{FF2B5EF4-FFF2-40B4-BE49-F238E27FC236}">
                <a16:creationId xmlns:a16="http://schemas.microsoft.com/office/drawing/2014/main" id="{AD041619-2994-464E-BED1-011D513295F3}"/>
              </a:ext>
            </a:extLst>
          </p:cNvPr>
          <p:cNvSpPr txBox="1">
            <a:spLocks/>
          </p:cNvSpPr>
          <p:nvPr/>
        </p:nvSpPr>
        <p:spPr bwMode="auto">
          <a:xfrm>
            <a:off x="2266150" y="2399836"/>
            <a:ext cx="6552728" cy="832229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3F6E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3F6E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3F6E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3F6E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3F6E"/>
                </a:solidFill>
                <a:latin typeface="Arial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3F6E"/>
                </a:solidFill>
                <a:latin typeface="Arial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3F6E"/>
                </a:solidFill>
                <a:latin typeface="Arial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3F6E"/>
                </a:solidFill>
                <a:latin typeface="Arial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3F6E"/>
                </a:solidFill>
                <a:latin typeface="Arial" charset="0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800" kern="0" dirty="0">
                <a:solidFill>
                  <a:schemeClr val="tx1"/>
                </a:solidFill>
              </a:rPr>
              <a:t>N</a:t>
            </a:r>
            <a:r>
              <a:rPr lang="it-IT" sz="1800" b="0" kern="0" dirty="0">
                <a:solidFill>
                  <a:schemeClr val="tx1"/>
                </a:solidFill>
              </a:rPr>
              <a:t> = </a:t>
            </a:r>
            <a:r>
              <a:rPr lang="it-IT" sz="1800" b="0" kern="0" dirty="0" err="1">
                <a:solidFill>
                  <a:schemeClr val="tx1"/>
                </a:solidFill>
              </a:rPr>
              <a:t>approx</a:t>
            </a:r>
            <a:r>
              <a:rPr lang="it-IT" sz="1800" b="0" kern="0" dirty="0">
                <a:solidFill>
                  <a:schemeClr val="tx1"/>
                </a:solidFill>
              </a:rPr>
              <a:t> to the </a:t>
            </a:r>
            <a:r>
              <a:rPr lang="it-IT" sz="1800" b="0" kern="0" dirty="0" err="1">
                <a:solidFill>
                  <a:schemeClr val="tx1"/>
                </a:solidFill>
              </a:rPr>
              <a:t>closest</a:t>
            </a:r>
            <a:r>
              <a:rPr lang="it-IT" sz="1800" b="0" kern="0" dirty="0">
                <a:solidFill>
                  <a:schemeClr val="tx1"/>
                </a:solidFill>
              </a:rPr>
              <a:t> </a:t>
            </a:r>
            <a:r>
              <a:rPr lang="it-IT" sz="1800" b="0" kern="0" dirty="0" err="1">
                <a:solidFill>
                  <a:schemeClr val="tx1"/>
                </a:solidFill>
              </a:rPr>
              <a:t>integer</a:t>
            </a:r>
            <a:endParaRPr lang="it-IT" sz="1800" b="0" kern="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sz="1800" b="0" kern="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800" b="0" kern="0" dirty="0" err="1">
                <a:solidFill>
                  <a:schemeClr val="tx1"/>
                </a:solidFill>
              </a:rPr>
              <a:t>All</a:t>
            </a:r>
            <a:r>
              <a:rPr lang="it-IT" sz="1800" b="0" kern="0" dirty="0">
                <a:solidFill>
                  <a:schemeClr val="tx1"/>
                </a:solidFill>
              </a:rPr>
              <a:t> </a:t>
            </a:r>
            <a:r>
              <a:rPr lang="it-IT" sz="1800" b="0" kern="0" dirty="0" err="1">
                <a:solidFill>
                  <a:schemeClr val="tx1"/>
                </a:solidFill>
              </a:rPr>
              <a:t>geometrical</a:t>
            </a:r>
            <a:r>
              <a:rPr lang="it-IT" sz="1800" b="0" kern="0" dirty="0">
                <a:solidFill>
                  <a:schemeClr val="tx1"/>
                </a:solidFill>
              </a:rPr>
              <a:t> </a:t>
            </a:r>
            <a:r>
              <a:rPr lang="it-IT" sz="1800" b="0" kern="0" dirty="0" err="1">
                <a:solidFill>
                  <a:schemeClr val="tx1"/>
                </a:solidFill>
              </a:rPr>
              <a:t>parameter</a:t>
            </a:r>
            <a:r>
              <a:rPr lang="it-IT" sz="1800" b="0" kern="0" dirty="0">
                <a:solidFill>
                  <a:schemeClr val="tx1"/>
                </a:solidFill>
              </a:rPr>
              <a:t> can </a:t>
            </a:r>
            <a:r>
              <a:rPr lang="it-IT" sz="1800" b="0" kern="0" dirty="0" err="1">
                <a:solidFill>
                  <a:schemeClr val="tx1"/>
                </a:solidFill>
              </a:rPr>
              <a:t>now</a:t>
            </a:r>
            <a:r>
              <a:rPr lang="it-IT" sz="1800" b="0" kern="0" dirty="0">
                <a:solidFill>
                  <a:schemeClr val="tx1"/>
                </a:solidFill>
              </a:rPr>
              <a:t> be </a:t>
            </a:r>
            <a:r>
              <a:rPr lang="it-IT" sz="1800" b="0" kern="0" dirty="0" err="1">
                <a:solidFill>
                  <a:schemeClr val="tx1"/>
                </a:solidFill>
              </a:rPr>
              <a:t>calculated</a:t>
            </a:r>
            <a:endParaRPr lang="en-GB" sz="1800" b="0" kern="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0" grpId="0"/>
      <p:bldP spid="24" grpId="0" animBg="1"/>
      <p:bldP spid="2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9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8666163" y="142875"/>
            <a:ext cx="477837" cy="246063"/>
          </a:xfrm>
          <a:noFill/>
        </p:spPr>
        <p:txBody>
          <a:bodyPr rIns="360000"/>
          <a:lstStyle/>
          <a:p>
            <a:fld id="{348D99FF-9B3E-4888-AC47-4F19CFF61238}" type="slidenum">
              <a:rPr lang="it-IT" smtClean="0"/>
              <a:pPr/>
              <a:t>5</a:t>
            </a:fld>
            <a:endParaRPr lang="it-IT"/>
          </a:p>
        </p:txBody>
      </p:sp>
      <p:sp>
        <p:nvSpPr>
          <p:cNvPr id="8201" name="Rectangle 15"/>
          <p:cNvSpPr>
            <a:spLocks noChangeArrowheads="1"/>
          </p:cNvSpPr>
          <p:nvPr/>
        </p:nvSpPr>
        <p:spPr bwMode="auto">
          <a:xfrm>
            <a:off x="449263" y="16954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>
            <a:spAutoFit/>
          </a:bodyPr>
          <a:lstStyle/>
          <a:p>
            <a:pPr indent="180975"/>
            <a:r>
              <a:rPr lang="it-IT" sz="1600">
                <a:latin typeface="Garamond" pitchFamily="18" charset="0"/>
                <a:cs typeface="Times New Roman" pitchFamily="18" charset="0"/>
              </a:rPr>
              <a:t>			</a:t>
            </a:r>
            <a:endParaRPr lang="it-IT"/>
          </a:p>
        </p:txBody>
      </p:sp>
      <p:sp>
        <p:nvSpPr>
          <p:cNvPr id="8202" name="Rectangle 17"/>
          <p:cNvSpPr>
            <a:spLocks noChangeArrowheads="1"/>
          </p:cNvSpPr>
          <p:nvPr/>
        </p:nvSpPr>
        <p:spPr bwMode="auto">
          <a:xfrm>
            <a:off x="1349375" y="31432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>
            <a:spAutoFit/>
          </a:bodyPr>
          <a:lstStyle/>
          <a:p>
            <a:pPr indent="449263"/>
            <a:r>
              <a:rPr lang="it-IT" sz="1600">
                <a:latin typeface="Garamond" pitchFamily="18" charset="0"/>
                <a:cs typeface="Times New Roman" pitchFamily="18" charset="0"/>
              </a:rPr>
              <a:t>				</a:t>
            </a:r>
            <a:endParaRPr lang="it-IT"/>
          </a:p>
        </p:txBody>
      </p:sp>
      <p:sp>
        <p:nvSpPr>
          <p:cNvPr id="8203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>
            <a:spAutoFit/>
          </a:bodyPr>
          <a:lstStyle/>
          <a:p>
            <a:endParaRPr lang="en-GB" dirty="0"/>
          </a:p>
        </p:txBody>
      </p:sp>
      <p:sp>
        <p:nvSpPr>
          <p:cNvPr id="8204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>
            <a:spAutoFit/>
          </a:bodyPr>
          <a:lstStyle/>
          <a:p>
            <a:endParaRPr lang="en-GB" dirty="0"/>
          </a:p>
        </p:txBody>
      </p:sp>
      <p:sp>
        <p:nvSpPr>
          <p:cNvPr id="8205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>
            <a:spAutoFit/>
          </a:bodyPr>
          <a:lstStyle/>
          <a:p>
            <a:endParaRPr lang="en-GB" dirty="0"/>
          </a:p>
        </p:txBody>
      </p:sp>
      <p:sp>
        <p:nvSpPr>
          <p:cNvPr id="8206" name="Rectangle 17"/>
          <p:cNvSpPr>
            <a:spLocks noChangeArrowheads="1"/>
          </p:cNvSpPr>
          <p:nvPr/>
        </p:nvSpPr>
        <p:spPr bwMode="auto">
          <a:xfrm>
            <a:off x="0" y="76962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>
            <a:spAutoFit/>
          </a:bodyPr>
          <a:lstStyle/>
          <a:p>
            <a:endParaRPr lang="en-US" dirty="0"/>
          </a:p>
        </p:txBody>
      </p:sp>
      <p:cxnSp>
        <p:nvCxnSpPr>
          <p:cNvPr id="8207" name="Straight Arrow Connector 20"/>
          <p:cNvCxnSpPr>
            <a:cxnSpLocks noChangeShapeType="1"/>
          </p:cNvCxnSpPr>
          <p:nvPr/>
        </p:nvCxnSpPr>
        <p:spPr bwMode="auto">
          <a:xfrm>
            <a:off x="7858125" y="1857375"/>
            <a:ext cx="914400" cy="914400"/>
          </a:xfrm>
          <a:prstGeom prst="straightConnector1">
            <a:avLst/>
          </a:prstGeom>
          <a:noFill/>
          <a:ln w="9525" algn="ctr">
            <a:noFill/>
            <a:round/>
            <a:headEnd/>
            <a:tailEnd type="arrow" w="med" len="med"/>
          </a:ln>
        </p:spPr>
      </p:cxnSp>
      <p:grpSp>
        <p:nvGrpSpPr>
          <p:cNvPr id="2" name="Group 20"/>
          <p:cNvGrpSpPr/>
          <p:nvPr/>
        </p:nvGrpSpPr>
        <p:grpSpPr>
          <a:xfrm>
            <a:off x="214313" y="862013"/>
            <a:ext cx="8929687" cy="4450809"/>
            <a:chOff x="214313" y="862013"/>
            <a:chExt cx="8929687" cy="4450809"/>
          </a:xfrm>
        </p:grpSpPr>
        <p:grpSp>
          <p:nvGrpSpPr>
            <p:cNvPr id="3" name="Group 19"/>
            <p:cNvGrpSpPr/>
            <p:nvPr/>
          </p:nvGrpSpPr>
          <p:grpSpPr>
            <a:xfrm>
              <a:off x="214313" y="862013"/>
              <a:ext cx="8929687" cy="4079154"/>
              <a:chOff x="214313" y="862013"/>
              <a:chExt cx="8929687" cy="4079154"/>
            </a:xfrm>
          </p:grpSpPr>
          <p:grpSp>
            <p:nvGrpSpPr>
              <p:cNvPr id="4" name="Group 17"/>
              <p:cNvGrpSpPr>
                <a:grpSpLocks/>
              </p:cNvGrpSpPr>
              <p:nvPr/>
            </p:nvGrpSpPr>
            <p:grpSpPr bwMode="auto">
              <a:xfrm>
                <a:off x="3429000" y="862013"/>
                <a:ext cx="5715000" cy="4079154"/>
                <a:chOff x="3030570" y="500042"/>
                <a:chExt cx="6113462" cy="4334533"/>
              </a:xfrm>
            </p:grpSpPr>
            <p:pic>
              <p:nvPicPr>
                <p:cNvPr id="8210" name="Picture 3" descr="imbocco"/>
                <p:cNvPicPr>
                  <a:picLocks noChangeAspect="1" noChangeArrowheads="1"/>
                </p:cNvPicPr>
                <p:nvPr/>
              </p:nvPicPr>
              <p:blipFill>
                <a:blip r:embed="rId2" cstate="print"/>
                <a:srcRect b="12093"/>
                <a:stretch>
                  <a:fillRect/>
                </a:stretch>
              </p:blipFill>
              <p:spPr bwMode="auto">
                <a:xfrm>
                  <a:off x="3030570" y="500042"/>
                  <a:ext cx="6113462" cy="398780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8211" name="TextBox 15"/>
                <p:cNvSpPr txBox="1">
                  <a:spLocks noChangeArrowheads="1"/>
                </p:cNvSpPr>
                <p:nvPr/>
              </p:nvSpPr>
              <p:spPr bwMode="auto">
                <a:xfrm>
                  <a:off x="5696719" y="4213190"/>
                  <a:ext cx="3255285" cy="62138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square" lIns="0" rIns="0">
                  <a:spAutoFit/>
                </a:bodyPr>
                <a:lstStyle/>
                <a:p>
                  <a:r>
                    <a:rPr lang="it-IT" sz="1600" b="1" dirty="0">
                      <a:solidFill>
                        <a:srgbClr val="FF0000"/>
                      </a:solidFill>
                    </a:rPr>
                    <a:t>For </a:t>
                  </a:r>
                  <a:r>
                    <a:rPr lang="it-IT" sz="1600" b="1" dirty="0" err="1">
                      <a:solidFill>
                        <a:srgbClr val="FF0000"/>
                      </a:solidFill>
                    </a:rPr>
                    <a:t>rotors</a:t>
                  </a:r>
                  <a:r>
                    <a:rPr lang="it-IT" sz="1600" b="1" dirty="0">
                      <a:solidFill>
                        <a:srgbClr val="FF0000"/>
                      </a:solidFill>
                    </a:rPr>
                    <a:t>: </a:t>
                  </a:r>
                  <a:r>
                    <a:rPr lang="it-IT" sz="1600" b="1" dirty="0" err="1">
                      <a:solidFill>
                        <a:srgbClr val="FF0000"/>
                      </a:solidFill>
                    </a:rPr>
                    <a:t>same</a:t>
                  </a:r>
                  <a:r>
                    <a:rPr lang="it-IT" sz="1600" b="1" dirty="0">
                      <a:solidFill>
                        <a:srgbClr val="FF0000"/>
                      </a:solidFill>
                    </a:rPr>
                    <a:t> </a:t>
                  </a:r>
                  <a:r>
                    <a:rPr lang="it-IT" sz="1600" b="1" dirty="0" err="1">
                      <a:solidFill>
                        <a:srgbClr val="FF0000"/>
                      </a:solidFill>
                    </a:rPr>
                    <a:t>concept</a:t>
                  </a:r>
                  <a:r>
                    <a:rPr lang="it-IT" sz="1600" b="1" dirty="0">
                      <a:solidFill>
                        <a:srgbClr val="FF0000"/>
                      </a:solidFill>
                    </a:rPr>
                    <a:t> </a:t>
                  </a:r>
                  <a:r>
                    <a:rPr lang="it-IT" sz="1600" b="1" dirty="0" err="1">
                      <a:solidFill>
                        <a:srgbClr val="FF0000"/>
                      </a:solidFill>
                    </a:rPr>
                    <a:t>but</a:t>
                  </a:r>
                  <a:r>
                    <a:rPr lang="it-IT" sz="1600" b="1" dirty="0">
                      <a:solidFill>
                        <a:srgbClr val="FF0000"/>
                      </a:solidFill>
                    </a:rPr>
                    <a:t>  V </a:t>
                  </a:r>
                  <a:r>
                    <a:rPr lang="it-IT" sz="1600" b="1" dirty="0">
                      <a:solidFill>
                        <a:srgbClr val="FF0000"/>
                      </a:solidFill>
                      <a:sym typeface="Wingdings" panose="05000000000000000000" pitchFamily="2" charset="2"/>
                    </a:rPr>
                    <a:t></a:t>
                  </a:r>
                  <a:r>
                    <a:rPr lang="it-IT" sz="1600" b="1" dirty="0">
                      <a:solidFill>
                        <a:srgbClr val="FF0000"/>
                      </a:solidFill>
                    </a:rPr>
                    <a:t> W and  </a:t>
                  </a:r>
                  <a:r>
                    <a:rPr lang="it-IT" sz="1600" b="1" dirty="0">
                      <a:solidFill>
                        <a:srgbClr val="FF0000"/>
                      </a:solidFill>
                      <a:latin typeface="Symbol" pitchFamily="18" charset="2"/>
                    </a:rPr>
                    <a:t>a </a:t>
                  </a:r>
                  <a:r>
                    <a:rPr lang="it-IT" sz="1600" b="1" dirty="0">
                      <a:solidFill>
                        <a:srgbClr val="FF0000"/>
                      </a:solidFill>
                      <a:latin typeface="+mn-lt"/>
                    </a:rPr>
                    <a:t> </a:t>
                  </a:r>
                  <a:r>
                    <a:rPr lang="it-IT" sz="1600" b="1" dirty="0">
                      <a:solidFill>
                        <a:srgbClr val="FF0000"/>
                      </a:solidFill>
                      <a:latin typeface="+mn-lt"/>
                      <a:sym typeface="Wingdings" panose="05000000000000000000" pitchFamily="2" charset="2"/>
                    </a:rPr>
                    <a:t></a:t>
                  </a:r>
                  <a:r>
                    <a:rPr lang="it-IT" sz="1600" b="1" dirty="0">
                      <a:solidFill>
                        <a:srgbClr val="FF0000"/>
                      </a:solidFill>
                      <a:latin typeface="+mn-lt"/>
                    </a:rPr>
                    <a:t>  </a:t>
                  </a:r>
                  <a:r>
                    <a:rPr lang="it-IT" sz="1600" b="1" dirty="0">
                      <a:solidFill>
                        <a:srgbClr val="FF0000"/>
                      </a:solidFill>
                      <a:latin typeface="Symbol" pitchFamily="18" charset="2"/>
                    </a:rPr>
                    <a:t>b  </a:t>
                  </a:r>
                  <a:endParaRPr lang="en-GB" sz="1600" b="1" dirty="0">
                    <a:solidFill>
                      <a:srgbClr val="FF0000"/>
                    </a:solidFill>
                  </a:endParaRPr>
                </a:p>
              </p:txBody>
            </p:sp>
          </p:grpSp>
          <p:sp>
            <p:nvSpPr>
              <p:cNvPr id="8208" name="TextBox 19"/>
              <p:cNvSpPr txBox="1">
                <a:spLocks noChangeArrowheads="1"/>
              </p:cNvSpPr>
              <p:nvPr/>
            </p:nvSpPr>
            <p:spPr bwMode="auto">
              <a:xfrm>
                <a:off x="214313" y="1176338"/>
                <a:ext cx="3781623" cy="36225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r>
                  <a:rPr lang="it-IT" sz="1600" b="1" i="1" u="sng" dirty="0">
                    <a:latin typeface="Garamond" pitchFamily="18" charset="0"/>
                  </a:rPr>
                  <a:t>Incidence losses</a:t>
                </a:r>
              </a:p>
              <a:p>
                <a:r>
                  <a:rPr lang="it-IT" sz="1600" dirty="0">
                    <a:latin typeface="Garamond" pitchFamily="18" charset="0"/>
                  </a:rPr>
                  <a:t>When the blade loading ot the blade leading edge in &gt;0   </a:t>
                </a:r>
                <a:r>
                  <a:rPr lang="it-IT" sz="1600" dirty="0">
                    <a:latin typeface="Garamond" pitchFamily="18" charset="0"/>
                    <a:sym typeface="Wingdings" pitchFamily="2" charset="2"/>
                  </a:rPr>
                  <a:t></a:t>
                </a:r>
                <a:r>
                  <a:rPr lang="it-IT" sz="1600" dirty="0">
                    <a:latin typeface="Garamond" pitchFamily="18" charset="0"/>
                  </a:rPr>
                  <a:t>   | V</a:t>
                </a:r>
                <a:r>
                  <a:rPr lang="it-IT" sz="1600" baseline="-25000" dirty="0">
                    <a:latin typeface="Garamond" pitchFamily="18" charset="0"/>
                  </a:rPr>
                  <a:t>t,1</a:t>
                </a:r>
                <a:r>
                  <a:rPr lang="it-IT" sz="1600" dirty="0">
                    <a:latin typeface="Garamond" pitchFamily="18" charset="0"/>
                  </a:rPr>
                  <a:t> - V</a:t>
                </a:r>
                <a:r>
                  <a:rPr lang="it-IT" sz="1600" baseline="-25000" dirty="0">
                    <a:latin typeface="Garamond" pitchFamily="18" charset="0"/>
                  </a:rPr>
                  <a:t>t,a </a:t>
                </a:r>
                <a:r>
                  <a:rPr lang="it-IT" sz="1600" dirty="0">
                    <a:latin typeface="Garamond" pitchFamily="18" charset="0"/>
                  </a:rPr>
                  <a:t>| &gt; 0</a:t>
                </a:r>
              </a:p>
              <a:p>
                <a:pPr>
                  <a:spcBef>
                    <a:spcPts val="1800"/>
                  </a:spcBef>
                </a:pPr>
                <a:r>
                  <a:rPr lang="it-IT" sz="1600" u="sng" dirty="0">
                    <a:latin typeface="Garamond" pitchFamily="18" charset="0"/>
                  </a:rPr>
                  <a:t>Optimum when: </a:t>
                </a:r>
                <a:r>
                  <a:rPr lang="it-IT" sz="1600" dirty="0">
                    <a:latin typeface="Garamond" pitchFamily="18" charset="0"/>
                  </a:rPr>
                  <a:t>  by continuity eq.  (</a:t>
                </a:r>
                <a:r>
                  <a:rPr lang="it-IT" sz="1600" dirty="0">
                    <a:latin typeface="Symbol" pitchFamily="18" charset="2"/>
                  </a:rPr>
                  <a:t>r</a:t>
                </a:r>
                <a:r>
                  <a:rPr lang="it-IT" sz="1600" dirty="0">
                    <a:latin typeface="Garamond" pitchFamily="18" charset="0"/>
                  </a:rPr>
                  <a:t>=cost):</a:t>
                </a:r>
              </a:p>
              <a:p>
                <a:endParaRPr lang="it-IT" sz="1600" dirty="0">
                  <a:latin typeface="Garamond" pitchFamily="18" charset="0"/>
                </a:endParaRPr>
              </a:p>
              <a:p>
                <a:r>
                  <a:rPr lang="it-IT" sz="1600" dirty="0">
                    <a:latin typeface="Garamond" pitchFamily="18" charset="0"/>
                  </a:rPr>
                  <a:t>and W</a:t>
                </a:r>
                <a:r>
                  <a:rPr lang="it-IT" sz="1600" baseline="-25000" dirty="0">
                    <a:latin typeface="Garamond" pitchFamily="18" charset="0"/>
                  </a:rPr>
                  <a:t>t,1</a:t>
                </a:r>
                <a:r>
                  <a:rPr lang="it-IT" sz="1600" dirty="0">
                    <a:latin typeface="Garamond" pitchFamily="18" charset="0"/>
                  </a:rPr>
                  <a:t>=</a:t>
                </a:r>
                <a:r>
                  <a:rPr lang="it-IT" sz="1600" dirty="0" err="1">
                    <a:latin typeface="Garamond" pitchFamily="18" charset="0"/>
                  </a:rPr>
                  <a:t>W</a:t>
                </a:r>
                <a:r>
                  <a:rPr lang="it-IT" sz="1600" baseline="-25000" dirty="0" err="1">
                    <a:latin typeface="Garamond" pitchFamily="18" charset="0"/>
                  </a:rPr>
                  <a:t>t,a</a:t>
                </a:r>
                <a:r>
                  <a:rPr lang="it-IT" sz="1600" dirty="0">
                    <a:latin typeface="Garamond" pitchFamily="18" charset="0"/>
                  </a:rPr>
                  <a:t> ,   </a:t>
                </a:r>
                <a:r>
                  <a:rPr lang="it-IT" sz="1600" dirty="0">
                    <a:latin typeface="Garamond" pitchFamily="18" charset="0"/>
                    <a:sym typeface="Wingdings" pitchFamily="2" charset="2"/>
                  </a:rPr>
                  <a:t></a:t>
                </a:r>
                <a:r>
                  <a:rPr lang="it-IT" sz="1600" dirty="0">
                    <a:latin typeface="Garamond" pitchFamily="18" charset="0"/>
                  </a:rPr>
                  <a:t> </a:t>
                </a:r>
              </a:p>
              <a:p>
                <a:endParaRPr lang="it-IT" sz="1600" dirty="0">
                  <a:latin typeface="Garamond" pitchFamily="18" charset="0"/>
                </a:endParaRPr>
              </a:p>
              <a:p>
                <a:pPr algn="ctr"/>
                <a:r>
                  <a:rPr lang="en-GB" sz="1600" b="1" i="1" dirty="0">
                    <a:solidFill>
                      <a:srgbClr val="FF0000"/>
                    </a:solidFill>
                    <a:latin typeface="Garamond" pitchFamily="18" charset="0"/>
                  </a:rPr>
                  <a:t>In design, we choose the geometrical angle to have a </a:t>
                </a:r>
                <a:r>
                  <a:rPr lang="en-GB" sz="1600" b="1" i="1" dirty="0">
                    <a:solidFill>
                      <a:srgbClr val="FF0000"/>
                    </a:solidFill>
                    <a:latin typeface="Symbol" panose="05050102010706020507" pitchFamily="18" charset="2"/>
                  </a:rPr>
                  <a:t>b</a:t>
                </a:r>
                <a:r>
                  <a:rPr lang="en-GB" sz="1600" b="1" i="1" baseline="-25000" dirty="0">
                    <a:solidFill>
                      <a:srgbClr val="FF0000"/>
                    </a:solidFill>
                    <a:latin typeface="Garamond" pitchFamily="18" charset="0"/>
                  </a:rPr>
                  <a:t>1</a:t>
                </a:r>
                <a:r>
                  <a:rPr lang="en-GB" sz="1600" b="1" i="1" dirty="0">
                    <a:solidFill>
                      <a:srgbClr val="FF0000"/>
                    </a:solidFill>
                    <a:latin typeface="Garamond" pitchFamily="18" charset="0"/>
                  </a:rPr>
                  <a:t>  =</a:t>
                </a:r>
                <a:r>
                  <a:rPr lang="en-GB" sz="1600" b="1" i="1" dirty="0">
                    <a:solidFill>
                      <a:srgbClr val="FF0000"/>
                    </a:solidFill>
                    <a:latin typeface="Symbol" panose="05050102010706020507" pitchFamily="18" charset="2"/>
                  </a:rPr>
                  <a:t>b</a:t>
                </a:r>
                <a:r>
                  <a:rPr lang="en-GB" sz="1600" b="1" i="1" baseline="-25000" dirty="0">
                    <a:solidFill>
                      <a:srgbClr val="FF0000"/>
                    </a:solidFill>
                    <a:latin typeface="Garamond" pitchFamily="18" charset="0"/>
                  </a:rPr>
                  <a:t>1,opt</a:t>
                </a:r>
              </a:p>
              <a:p>
                <a:pPr algn="ctr"/>
                <a:endParaRPr lang="en-GB" sz="1600" b="1" dirty="0">
                  <a:latin typeface="Garamond" pitchFamily="18" charset="0"/>
                </a:endParaRPr>
              </a:p>
              <a:p>
                <a:pPr algn="ctr"/>
                <a:r>
                  <a:rPr lang="en-GB" sz="1600" b="1" dirty="0">
                    <a:latin typeface="Garamond" pitchFamily="18" charset="0"/>
                  </a:rPr>
                  <a:t>It is lost the kinetic energy perpendicular to the blade:</a:t>
                </a:r>
              </a:p>
            </p:txBody>
          </p:sp>
          <p:graphicFrame>
            <p:nvGraphicFramePr>
              <p:cNvPr id="8194" name="Object 4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830186516"/>
                  </p:ext>
                </p:extLst>
              </p:nvPr>
            </p:nvGraphicFramePr>
            <p:xfrm>
              <a:off x="4129088" y="2244725"/>
              <a:ext cx="1616075" cy="2825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zione" r:id="rId3" imgW="1091880" imgH="190440" progId="Equation.3">
                      <p:embed/>
                    </p:oleObj>
                  </mc:Choice>
                  <mc:Fallback>
                    <p:oleObj name="Equazione" r:id="rId3" imgW="1091880" imgH="190440" progId="Equation.3">
                      <p:embed/>
                      <p:pic>
                        <p:nvPicPr>
                          <p:cNvPr id="0" name="Object 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129088" y="2244725"/>
                            <a:ext cx="1616075" cy="2825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8195" name="Object 6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273365770"/>
                  </p:ext>
                </p:extLst>
              </p:nvPr>
            </p:nvGraphicFramePr>
            <p:xfrm>
              <a:off x="2089175" y="2728796"/>
              <a:ext cx="1705173" cy="54237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zione" r:id="rId5" imgW="1079280" imgH="342720" progId="Equation.3">
                      <p:embed/>
                    </p:oleObj>
                  </mc:Choice>
                  <mc:Fallback>
                    <p:oleObj name="Equazione" r:id="rId5" imgW="1079280" imgH="342720" progId="Equation.3">
                      <p:embed/>
                      <p:pic>
                        <p:nvPicPr>
                          <p:cNvPr id="0" name="Object 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089175" y="2728796"/>
                            <a:ext cx="1705173" cy="542378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solidFill>
                              <a:srgbClr val="FF0000"/>
                            </a:solidFill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8196" name="Object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81310670"/>
                </p:ext>
              </p:extLst>
            </p:nvPr>
          </p:nvGraphicFramePr>
          <p:xfrm>
            <a:off x="1187624" y="4685114"/>
            <a:ext cx="2095935" cy="6277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zione" r:id="rId7" imgW="1358640" imgH="406080" progId="Equation.3">
                    <p:embed/>
                  </p:oleObj>
                </mc:Choice>
                <mc:Fallback>
                  <p:oleObj name="Equazione" r:id="rId7" imgW="1358640" imgH="406080" progId="Equation.3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87624" y="4685114"/>
                          <a:ext cx="2095935" cy="6277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200" name="Title 1"/>
          <p:cNvSpPr>
            <a:spLocks noGrp="1"/>
          </p:cNvSpPr>
          <p:nvPr>
            <p:ph type="title"/>
          </p:nvPr>
        </p:nvSpPr>
        <p:spPr>
          <a:xfrm>
            <a:off x="251520" y="116632"/>
            <a:ext cx="7632848" cy="1152128"/>
          </a:xfrm>
          <a:solidFill>
            <a:schemeClr val="bg1"/>
          </a:solidFill>
        </p:spPr>
        <p:txBody>
          <a:bodyPr/>
          <a:lstStyle/>
          <a:p>
            <a:r>
              <a:rPr lang="it-IT" sz="2400" dirty="0"/>
              <a:t>       ROTOR </a:t>
            </a:r>
            <a:br>
              <a:rPr lang="it-IT" sz="2400" dirty="0"/>
            </a:br>
            <a:r>
              <a:rPr lang="it-IT" sz="1800" b="0" dirty="0" err="1">
                <a:solidFill>
                  <a:srgbClr val="FF0000"/>
                </a:solidFill>
                <a:latin typeface="Garamond" pitchFamily="18" charset="0"/>
              </a:rPr>
              <a:t>Computed</a:t>
            </a:r>
            <a:r>
              <a:rPr lang="it-IT" sz="1800" b="0" dirty="0">
                <a:solidFill>
                  <a:srgbClr val="FF0000"/>
                </a:solidFill>
                <a:latin typeface="Garamond" pitchFamily="18" charset="0"/>
              </a:rPr>
              <a:t> as increase of total enthalpy (work increase) and /or decrease of efficiency      </a:t>
            </a:r>
            <a:r>
              <a:rPr lang="it-IT" sz="1800" b="0" dirty="0">
                <a:solidFill>
                  <a:srgbClr val="FF0000"/>
                </a:solidFill>
                <a:latin typeface="Garamond" pitchFamily="18" charset="0"/>
                <a:sym typeface="Wingdings" pitchFamily="2" charset="2"/>
              </a:rPr>
              <a:t> </a:t>
            </a:r>
            <a:r>
              <a:rPr lang="it-IT" sz="1800" dirty="0">
                <a:solidFill>
                  <a:srgbClr val="FF0000"/>
                </a:solidFill>
                <a:latin typeface="Garamond" pitchFamily="18" charset="0"/>
                <a:sym typeface="Wingdings" pitchFamily="2" charset="2"/>
              </a:rPr>
              <a:t>Lu = L</a:t>
            </a:r>
            <a:r>
              <a:rPr lang="it-IT" sz="1800" baseline="-25000" dirty="0">
                <a:solidFill>
                  <a:srgbClr val="FF0000"/>
                </a:solidFill>
                <a:latin typeface="Garamond" pitchFamily="18" charset="0"/>
                <a:sym typeface="Wingdings" pitchFamily="2" charset="2"/>
              </a:rPr>
              <a:t>is</a:t>
            </a:r>
            <a:r>
              <a:rPr lang="it-IT" sz="1800" dirty="0">
                <a:solidFill>
                  <a:srgbClr val="FF0000"/>
                </a:solidFill>
                <a:latin typeface="Garamond" pitchFamily="18" charset="0"/>
                <a:sym typeface="Wingdings" pitchFamily="2" charset="2"/>
              </a:rPr>
              <a:t> + ∑ </a:t>
            </a:r>
            <a:r>
              <a:rPr lang="it-IT" sz="1800" dirty="0">
                <a:solidFill>
                  <a:srgbClr val="FF0000"/>
                </a:solidFill>
                <a:latin typeface="Symbol" pitchFamily="18" charset="2"/>
                <a:sym typeface="Wingdings" pitchFamily="2" charset="2"/>
              </a:rPr>
              <a:t>D</a:t>
            </a:r>
            <a:r>
              <a:rPr lang="it-IT" sz="1800" dirty="0">
                <a:solidFill>
                  <a:srgbClr val="FF0000"/>
                </a:solidFill>
                <a:latin typeface="Garamond" pitchFamily="18" charset="0"/>
                <a:sym typeface="Wingdings" pitchFamily="2" charset="2"/>
              </a:rPr>
              <a:t>h </a:t>
            </a:r>
            <a:r>
              <a:rPr lang="it-IT" sz="1800" baseline="-25000" dirty="0">
                <a:solidFill>
                  <a:srgbClr val="FF0000"/>
                </a:solidFill>
                <a:latin typeface="Garamond" pitchFamily="18" charset="0"/>
                <a:sym typeface="Wingdings" pitchFamily="2" charset="2"/>
              </a:rPr>
              <a:t>t,i</a:t>
            </a:r>
            <a:r>
              <a:rPr lang="it-IT" sz="1800" dirty="0">
                <a:solidFill>
                  <a:srgbClr val="FF0000"/>
                </a:solidFill>
                <a:latin typeface="Garamond" pitchFamily="18" charset="0"/>
                <a:sym typeface="Wingdings" pitchFamily="2" charset="2"/>
              </a:rPr>
              <a:t>   ;	</a:t>
            </a:r>
            <a:r>
              <a:rPr lang="it-IT" sz="1800" dirty="0">
                <a:solidFill>
                  <a:srgbClr val="FF0000"/>
                </a:solidFill>
                <a:latin typeface="Symbol" pitchFamily="18" charset="2"/>
                <a:sym typeface="Wingdings" pitchFamily="2" charset="2"/>
              </a:rPr>
              <a:t>h </a:t>
            </a:r>
            <a:r>
              <a:rPr lang="it-IT" sz="1800" dirty="0">
                <a:solidFill>
                  <a:srgbClr val="FF0000"/>
                </a:solidFill>
                <a:latin typeface="Garamond" pitchFamily="18" charset="0"/>
                <a:sym typeface="Wingdings" pitchFamily="2" charset="2"/>
              </a:rPr>
              <a:t>= L</a:t>
            </a:r>
            <a:r>
              <a:rPr lang="it-IT" sz="1800" baseline="-25000" dirty="0">
                <a:solidFill>
                  <a:srgbClr val="FF0000"/>
                </a:solidFill>
                <a:latin typeface="Garamond" pitchFamily="18" charset="0"/>
                <a:sym typeface="Wingdings" pitchFamily="2" charset="2"/>
              </a:rPr>
              <a:t>is</a:t>
            </a:r>
            <a:r>
              <a:rPr lang="it-IT" sz="1800" dirty="0">
                <a:solidFill>
                  <a:srgbClr val="FF0000"/>
                </a:solidFill>
                <a:latin typeface="Garamond" pitchFamily="18" charset="0"/>
                <a:sym typeface="Wingdings" pitchFamily="2" charset="2"/>
              </a:rPr>
              <a:t>/Lu - </a:t>
            </a:r>
            <a:r>
              <a:rPr lang="it-IT" sz="1800" dirty="0">
                <a:solidFill>
                  <a:srgbClr val="FF0000"/>
                </a:solidFill>
                <a:latin typeface="Symbol" pitchFamily="18" charset="2"/>
                <a:sym typeface="Wingdings" pitchFamily="2" charset="2"/>
              </a:rPr>
              <a:t>Dh</a:t>
            </a:r>
            <a:r>
              <a:rPr lang="it-IT" sz="1800" dirty="0">
                <a:solidFill>
                  <a:srgbClr val="FF0000"/>
                </a:solidFill>
                <a:latin typeface="Garamond" pitchFamily="18" charset="0"/>
                <a:sym typeface="Wingdings" pitchFamily="2" charset="2"/>
              </a:rPr>
              <a:t> </a:t>
            </a:r>
            <a:endParaRPr lang="en-GB" sz="2400" dirty="0">
              <a:solidFill>
                <a:srgbClr val="FF0000"/>
              </a:solidFill>
              <a:latin typeface="Garamond" pitchFamily="18" charset="0"/>
            </a:endParaRPr>
          </a:p>
        </p:txBody>
      </p:sp>
      <p:sp>
        <p:nvSpPr>
          <p:cNvPr id="22" name="TextBox 19"/>
          <p:cNvSpPr txBox="1">
            <a:spLocks noChangeArrowheads="1"/>
          </p:cNvSpPr>
          <p:nvPr/>
        </p:nvSpPr>
        <p:spPr bwMode="auto">
          <a:xfrm>
            <a:off x="435830" y="5435764"/>
            <a:ext cx="3143250" cy="9294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it-IT" sz="1600" b="1" i="1" u="sng" dirty="0">
                <a:latin typeface="Garamond" pitchFamily="18" charset="0"/>
              </a:rPr>
              <a:t>Tip clearance losses</a:t>
            </a:r>
          </a:p>
          <a:p>
            <a:r>
              <a:rPr lang="it-IT" sz="1600" dirty="0">
                <a:latin typeface="Garamond" pitchFamily="18" charset="0"/>
              </a:rPr>
              <a:t>b = </a:t>
            </a:r>
            <a:r>
              <a:rPr lang="it-IT" sz="1600" dirty="0" err="1">
                <a:latin typeface="Garamond" pitchFamily="18" charset="0"/>
              </a:rPr>
              <a:t>smallest</a:t>
            </a:r>
            <a:r>
              <a:rPr lang="it-IT" sz="1600" dirty="0">
                <a:latin typeface="Garamond" pitchFamily="18" charset="0"/>
              </a:rPr>
              <a:t> </a:t>
            </a:r>
            <a:r>
              <a:rPr lang="it-IT" sz="1600" dirty="0" err="1">
                <a:latin typeface="Garamond" pitchFamily="18" charset="0"/>
              </a:rPr>
              <a:t>blade</a:t>
            </a:r>
            <a:r>
              <a:rPr lang="it-IT" sz="1600" dirty="0">
                <a:latin typeface="Garamond" pitchFamily="18" charset="0"/>
              </a:rPr>
              <a:t> height;  </a:t>
            </a:r>
          </a:p>
          <a:p>
            <a:r>
              <a:rPr lang="it-IT" sz="1600" dirty="0">
                <a:latin typeface="Symbol" pitchFamily="18" charset="2"/>
              </a:rPr>
              <a:t>e</a:t>
            </a:r>
            <a:r>
              <a:rPr lang="it-IT" sz="1600" dirty="0">
                <a:latin typeface="Garamond" pitchFamily="18" charset="0"/>
              </a:rPr>
              <a:t> = clearance</a:t>
            </a:r>
            <a:endParaRPr lang="en-GB" sz="1800" dirty="0">
              <a:latin typeface="Garamond" pitchFamily="18" charset="0"/>
            </a:endParaRPr>
          </a:p>
        </p:txBody>
      </p:sp>
      <p:graphicFrame>
        <p:nvGraphicFramePr>
          <p:cNvPr id="23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0979245"/>
              </p:ext>
            </p:extLst>
          </p:nvPr>
        </p:nvGraphicFramePr>
        <p:xfrm>
          <a:off x="3579080" y="5724525"/>
          <a:ext cx="2144712" cy="500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307880" imgH="304560" progId="Equation.3">
                  <p:embed/>
                </p:oleObj>
              </mc:Choice>
              <mc:Fallback>
                <p:oleObj name="Equation" r:id="rId9" imgW="1307880" imgH="304560" progId="Equation.3">
                  <p:embed/>
                  <p:pic>
                    <p:nvPicPr>
                      <p:cNvPr id="61448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9080" y="5724525"/>
                        <a:ext cx="2144712" cy="500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1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8666163" y="142875"/>
            <a:ext cx="477837" cy="246063"/>
          </a:xfrm>
          <a:noFill/>
        </p:spPr>
        <p:txBody>
          <a:bodyPr rIns="360000"/>
          <a:lstStyle/>
          <a:p>
            <a:fld id="{7064E6CC-FC8B-44EA-9278-DE18FC5AD76E}" type="slidenum">
              <a:rPr lang="it-IT" smtClean="0"/>
              <a:pPr/>
              <a:t>6</a:t>
            </a:fld>
            <a:endParaRPr lang="it-IT"/>
          </a:p>
        </p:txBody>
      </p:sp>
      <p:sp>
        <p:nvSpPr>
          <p:cNvPr id="9223" name="Rectangle 15"/>
          <p:cNvSpPr>
            <a:spLocks noChangeArrowheads="1"/>
          </p:cNvSpPr>
          <p:nvPr/>
        </p:nvSpPr>
        <p:spPr bwMode="auto">
          <a:xfrm>
            <a:off x="449263" y="16954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>
            <a:spAutoFit/>
          </a:bodyPr>
          <a:lstStyle/>
          <a:p>
            <a:pPr indent="180975"/>
            <a:r>
              <a:rPr lang="it-IT" sz="1600">
                <a:latin typeface="Garamond" pitchFamily="18" charset="0"/>
                <a:cs typeface="Times New Roman" pitchFamily="18" charset="0"/>
              </a:rPr>
              <a:t>			</a:t>
            </a:r>
            <a:endParaRPr lang="it-IT"/>
          </a:p>
        </p:txBody>
      </p:sp>
      <p:sp>
        <p:nvSpPr>
          <p:cNvPr id="9225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>
            <a:spAutoFit/>
          </a:bodyPr>
          <a:lstStyle/>
          <a:p>
            <a:endParaRPr lang="en-GB"/>
          </a:p>
        </p:txBody>
      </p:sp>
      <p:sp>
        <p:nvSpPr>
          <p:cNvPr id="9226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>
            <a:spAutoFit/>
          </a:bodyPr>
          <a:lstStyle/>
          <a:p>
            <a:endParaRPr lang="en-GB"/>
          </a:p>
        </p:txBody>
      </p:sp>
      <p:sp>
        <p:nvSpPr>
          <p:cNvPr id="9227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>
            <a:spAutoFit/>
          </a:bodyPr>
          <a:lstStyle/>
          <a:p>
            <a:endParaRPr lang="en-GB"/>
          </a:p>
        </p:txBody>
      </p:sp>
      <p:sp>
        <p:nvSpPr>
          <p:cNvPr id="9228" name="Rectangle 17"/>
          <p:cNvSpPr>
            <a:spLocks noChangeArrowheads="1"/>
          </p:cNvSpPr>
          <p:nvPr/>
        </p:nvSpPr>
        <p:spPr bwMode="auto">
          <a:xfrm>
            <a:off x="0" y="76962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>
            <a:spAutoFit/>
          </a:bodyPr>
          <a:lstStyle/>
          <a:p>
            <a:endParaRPr lang="en-US"/>
          </a:p>
        </p:txBody>
      </p:sp>
      <p:cxnSp>
        <p:nvCxnSpPr>
          <p:cNvPr id="9229" name="Straight Arrow Connector 20"/>
          <p:cNvCxnSpPr>
            <a:cxnSpLocks noChangeShapeType="1"/>
          </p:cNvCxnSpPr>
          <p:nvPr/>
        </p:nvCxnSpPr>
        <p:spPr bwMode="auto">
          <a:xfrm>
            <a:off x="7858125" y="1857375"/>
            <a:ext cx="914400" cy="914400"/>
          </a:xfrm>
          <a:prstGeom prst="straightConnector1">
            <a:avLst/>
          </a:prstGeom>
          <a:noFill/>
          <a:ln w="9525" algn="ctr">
            <a:noFill/>
            <a:round/>
            <a:headEnd/>
            <a:tailEnd type="arrow" w="med" len="med"/>
          </a:ln>
        </p:spPr>
      </p:cxnSp>
      <p:sp>
        <p:nvSpPr>
          <p:cNvPr id="9230" name="TextBox 19"/>
          <p:cNvSpPr txBox="1">
            <a:spLocks noChangeArrowheads="1"/>
          </p:cNvSpPr>
          <p:nvPr/>
        </p:nvSpPr>
        <p:spPr bwMode="auto">
          <a:xfrm>
            <a:off x="143077" y="1223841"/>
            <a:ext cx="87501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1600" b="1" i="1" u="sng" dirty="0">
                <a:latin typeface="Garamond" pitchFamily="18" charset="0"/>
              </a:rPr>
              <a:t>Diffusion and blade loading losses:</a:t>
            </a:r>
            <a:endParaRPr lang="en-US" sz="1600" dirty="0">
              <a:latin typeface="Garamond" pitchFamily="18" charset="0"/>
            </a:endParaRPr>
          </a:p>
        </p:txBody>
      </p:sp>
      <p:graphicFrame>
        <p:nvGraphicFramePr>
          <p:cNvPr id="921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86965494"/>
              </p:ext>
            </p:extLst>
          </p:nvPr>
        </p:nvGraphicFramePr>
        <p:xfrm>
          <a:off x="325552" y="1660763"/>
          <a:ext cx="2062162" cy="477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41120" imgH="241200" progId="Equation.3">
                  <p:embed/>
                </p:oleObj>
              </mc:Choice>
              <mc:Fallback>
                <p:oleObj name="Equation" r:id="rId2" imgW="1041120" imgH="241200" progId="Equation.3">
                  <p:embed/>
                  <p:pic>
                    <p:nvPicPr>
                      <p:cNvPr id="9218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5552" y="1660763"/>
                        <a:ext cx="2062162" cy="477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1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68699660"/>
              </p:ext>
            </p:extLst>
          </p:nvPr>
        </p:nvGraphicFramePr>
        <p:xfrm>
          <a:off x="2906914" y="1590008"/>
          <a:ext cx="5110163" cy="714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zione" r:id="rId4" imgW="3454200" imgH="482400" progId="Equation.3">
                  <p:embed/>
                </p:oleObj>
              </mc:Choice>
              <mc:Fallback>
                <p:oleObj name="Equazione" r:id="rId4" imgW="3454200" imgH="482400" progId="Equation.3">
                  <p:embed/>
                  <p:pic>
                    <p:nvPicPr>
                      <p:cNvPr id="9219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06914" y="1590008"/>
                        <a:ext cx="5110163" cy="714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Oval 33"/>
          <p:cNvSpPr>
            <a:spLocks noChangeArrowheads="1"/>
          </p:cNvSpPr>
          <p:nvPr/>
        </p:nvSpPr>
        <p:spPr bwMode="auto">
          <a:xfrm>
            <a:off x="6031358" y="1455845"/>
            <a:ext cx="2214562" cy="928688"/>
          </a:xfrm>
          <a:prstGeom prst="ellipse">
            <a:avLst/>
          </a:prstGeom>
          <a:noFill/>
          <a:ln w="19050" algn="ctr">
            <a:solidFill>
              <a:srgbClr val="0033CC"/>
            </a:solidFill>
            <a:round/>
            <a:headEnd/>
            <a:tailEnd/>
          </a:ln>
        </p:spPr>
        <p:txBody>
          <a:bodyPr lIns="0" tIns="0" rIns="0" bIns="0"/>
          <a:lstStyle/>
          <a:p>
            <a:endParaRPr lang="en-GB" dirty="0"/>
          </a:p>
        </p:txBody>
      </p:sp>
      <p:sp>
        <p:nvSpPr>
          <p:cNvPr id="21" name="Title 1"/>
          <p:cNvSpPr>
            <a:spLocks noGrp="1"/>
          </p:cNvSpPr>
          <p:nvPr>
            <p:ph type="title"/>
          </p:nvPr>
        </p:nvSpPr>
        <p:spPr>
          <a:xfrm>
            <a:off x="827584" y="116632"/>
            <a:ext cx="2304256" cy="432048"/>
          </a:xfrm>
          <a:solidFill>
            <a:schemeClr val="bg1"/>
          </a:solidFill>
        </p:spPr>
        <p:txBody>
          <a:bodyPr/>
          <a:lstStyle/>
          <a:p>
            <a:r>
              <a:rPr lang="it-IT" sz="2400" dirty="0"/>
              <a:t>       ROTOR </a:t>
            </a:r>
            <a:endParaRPr lang="en-GB" sz="2400" dirty="0">
              <a:solidFill>
                <a:srgbClr val="FF0000"/>
              </a:solidFill>
              <a:latin typeface="Garamond" pitchFamily="18" charset="0"/>
            </a:endParaRPr>
          </a:p>
        </p:txBody>
      </p:sp>
      <p:grpSp>
        <p:nvGrpSpPr>
          <p:cNvPr id="4" name="Gruppo 3"/>
          <p:cNvGrpSpPr/>
          <p:nvPr/>
        </p:nvGrpSpPr>
        <p:grpSpPr>
          <a:xfrm>
            <a:off x="321468" y="3777215"/>
            <a:ext cx="8501063" cy="1076770"/>
            <a:chOff x="271462" y="2137108"/>
            <a:chExt cx="8501063" cy="1076770"/>
          </a:xfrm>
        </p:grpSpPr>
        <p:sp>
          <p:nvSpPr>
            <p:cNvPr id="26" name="TextBox 19"/>
            <p:cNvSpPr txBox="1">
              <a:spLocks noChangeArrowheads="1"/>
            </p:cNvSpPr>
            <p:nvPr/>
          </p:nvSpPr>
          <p:spPr bwMode="auto">
            <a:xfrm>
              <a:off x="271462" y="2247460"/>
              <a:ext cx="8501063" cy="9664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it-IT" sz="1600" b="1" i="1" u="sng" dirty="0">
                  <a:latin typeface="Garamond" pitchFamily="18" charset="0"/>
                </a:rPr>
                <a:t>Friction losses inside the blade channel:</a:t>
              </a:r>
            </a:p>
            <a:p>
              <a:r>
                <a:rPr lang="it-IT" sz="1600" dirty="0">
                  <a:latin typeface="Garamond" pitchFamily="18" charset="0"/>
                </a:rPr>
                <a:t>Formally equals to the duct ones:</a:t>
              </a:r>
            </a:p>
            <a:p>
              <a:r>
                <a:rPr lang="it-IT" sz="1600" dirty="0">
                  <a:latin typeface="Garamond" pitchFamily="18" charset="0"/>
                </a:rPr>
                <a:t>L, D = hydraulic lenght and </a:t>
              </a:r>
              <a:r>
                <a:rPr lang="it-IT" sz="1600" dirty="0" err="1">
                  <a:latin typeface="Garamond" pitchFamily="18" charset="0"/>
                </a:rPr>
                <a:t>mean</a:t>
              </a:r>
              <a:r>
                <a:rPr lang="it-IT" sz="1600" dirty="0">
                  <a:latin typeface="Garamond" pitchFamily="18" charset="0"/>
                </a:rPr>
                <a:t> </a:t>
              </a:r>
              <a:r>
                <a:rPr lang="it-IT" sz="1600" dirty="0" err="1">
                  <a:latin typeface="Garamond" pitchFamily="18" charset="0"/>
                </a:rPr>
                <a:t>diameter</a:t>
              </a:r>
              <a:r>
                <a:rPr lang="it-IT" sz="1600" dirty="0">
                  <a:latin typeface="Garamond" pitchFamily="18" charset="0"/>
                </a:rPr>
                <a:t>	        </a:t>
              </a:r>
              <a:r>
                <a:rPr lang="en-GB" sz="1800" dirty="0" err="1">
                  <a:latin typeface="Garamond" pitchFamily="18" charset="0"/>
                </a:rPr>
                <a:t>c</a:t>
              </a:r>
              <a:r>
                <a:rPr lang="en-GB" sz="1800" baseline="-25000" dirty="0" err="1">
                  <a:latin typeface="Garamond" pitchFamily="18" charset="0"/>
                </a:rPr>
                <a:t>f</a:t>
              </a:r>
              <a:r>
                <a:rPr lang="en-GB" sz="1800" dirty="0">
                  <a:latin typeface="Garamond" pitchFamily="18" charset="0"/>
                </a:rPr>
                <a:t> = </a:t>
              </a:r>
              <a:r>
                <a:rPr lang="en-GB" sz="1800" dirty="0" err="1">
                  <a:latin typeface="Garamond" pitchFamily="18" charset="0"/>
                </a:rPr>
                <a:t>c</a:t>
              </a:r>
              <a:r>
                <a:rPr lang="en-GB" sz="1800" baseline="-25000" dirty="0" err="1">
                  <a:latin typeface="Garamond" pitchFamily="18" charset="0"/>
                </a:rPr>
                <a:t>f,Moody</a:t>
              </a:r>
              <a:r>
                <a:rPr lang="en-GB" sz="1800" dirty="0">
                  <a:latin typeface="Garamond" pitchFamily="18" charset="0"/>
                </a:rPr>
                <a:t> + 0.0015</a:t>
              </a:r>
            </a:p>
          </p:txBody>
        </p:sp>
        <p:graphicFrame>
          <p:nvGraphicFramePr>
            <p:cNvPr id="27" name="Object 8"/>
            <p:cNvGraphicFramePr>
              <a:graphicFrameLocks noChangeAspect="1"/>
            </p:cNvGraphicFramePr>
            <p:nvPr/>
          </p:nvGraphicFramePr>
          <p:xfrm>
            <a:off x="4275382" y="2137108"/>
            <a:ext cx="1827212" cy="6905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143000" imgH="431640" progId="Equation.3">
                    <p:embed/>
                  </p:oleObj>
                </mc:Choice>
                <mc:Fallback>
                  <p:oleObj name="Equation" r:id="rId6" imgW="1143000" imgH="431640" progId="Equation.3">
                    <p:embed/>
                    <p:pic>
                      <p:nvPicPr>
                        <p:cNvPr id="27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75382" y="2137108"/>
                          <a:ext cx="1827212" cy="6905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5043722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1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8666163" y="142875"/>
            <a:ext cx="477837" cy="246063"/>
          </a:xfrm>
          <a:noFill/>
        </p:spPr>
        <p:txBody>
          <a:bodyPr rIns="360000"/>
          <a:lstStyle/>
          <a:p>
            <a:fld id="{7064E6CC-FC8B-44EA-9278-DE18FC5AD76E}" type="slidenum">
              <a:rPr lang="it-IT" smtClean="0"/>
              <a:pPr/>
              <a:t>7</a:t>
            </a:fld>
            <a:endParaRPr lang="it-IT"/>
          </a:p>
        </p:txBody>
      </p:sp>
      <p:sp>
        <p:nvSpPr>
          <p:cNvPr id="9225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>
            <a:spAutoFit/>
          </a:bodyPr>
          <a:lstStyle/>
          <a:p>
            <a:endParaRPr lang="en-GB"/>
          </a:p>
        </p:txBody>
      </p:sp>
      <p:sp>
        <p:nvSpPr>
          <p:cNvPr id="9226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>
            <a:spAutoFit/>
          </a:bodyPr>
          <a:lstStyle/>
          <a:p>
            <a:endParaRPr lang="en-GB"/>
          </a:p>
        </p:txBody>
      </p:sp>
      <p:sp>
        <p:nvSpPr>
          <p:cNvPr id="9227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>
            <a:spAutoFit/>
          </a:bodyPr>
          <a:lstStyle/>
          <a:p>
            <a:endParaRPr lang="en-GB"/>
          </a:p>
        </p:txBody>
      </p:sp>
      <p:sp>
        <p:nvSpPr>
          <p:cNvPr id="9228" name="Rectangle 17"/>
          <p:cNvSpPr>
            <a:spLocks noChangeArrowheads="1"/>
          </p:cNvSpPr>
          <p:nvPr/>
        </p:nvSpPr>
        <p:spPr bwMode="auto">
          <a:xfrm>
            <a:off x="0" y="76962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>
            <a:spAutoFit/>
          </a:bodyPr>
          <a:lstStyle/>
          <a:p>
            <a:endParaRPr lang="en-US"/>
          </a:p>
        </p:txBody>
      </p:sp>
      <p:cxnSp>
        <p:nvCxnSpPr>
          <p:cNvPr id="9229" name="Straight Arrow Connector 20"/>
          <p:cNvCxnSpPr>
            <a:cxnSpLocks noChangeShapeType="1"/>
          </p:cNvCxnSpPr>
          <p:nvPr/>
        </p:nvCxnSpPr>
        <p:spPr bwMode="auto">
          <a:xfrm>
            <a:off x="7858125" y="1857375"/>
            <a:ext cx="914400" cy="914400"/>
          </a:xfrm>
          <a:prstGeom prst="straightConnector1">
            <a:avLst/>
          </a:prstGeom>
          <a:noFill/>
          <a:ln w="9525" algn="ctr">
            <a:noFill/>
            <a:round/>
            <a:headEnd/>
            <a:tailEnd type="arrow" w="med" len="med"/>
          </a:ln>
        </p:spPr>
      </p:cxnSp>
      <p:sp>
        <p:nvSpPr>
          <p:cNvPr id="33" name="Title 1"/>
          <p:cNvSpPr txBox="1">
            <a:spLocks/>
          </p:cNvSpPr>
          <p:nvPr/>
        </p:nvSpPr>
        <p:spPr bwMode="auto">
          <a:xfrm>
            <a:off x="289592" y="120054"/>
            <a:ext cx="3134122" cy="42862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3F6E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3F6E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3F6E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3F6E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3F6E"/>
                </a:solidFill>
                <a:latin typeface="Arial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3F6E"/>
                </a:solidFill>
                <a:latin typeface="Arial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3F6E"/>
                </a:solidFill>
                <a:latin typeface="Arial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3F6E"/>
                </a:solidFill>
                <a:latin typeface="Arial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3F6E"/>
                </a:solidFill>
                <a:latin typeface="Arial" charset="0"/>
              </a:defRPr>
            </a:lvl9pPr>
          </a:lstStyle>
          <a:p>
            <a:r>
              <a:rPr lang="it-IT" sz="2400" kern="0" dirty="0"/>
              <a:t>Vaneless </a:t>
            </a:r>
            <a:r>
              <a:rPr lang="it-IT" sz="2400" kern="0" dirty="0" err="1"/>
              <a:t>diffuser</a:t>
            </a:r>
            <a:endParaRPr lang="en-GB" sz="2400" kern="0" dirty="0"/>
          </a:p>
        </p:txBody>
      </p:sp>
      <p:graphicFrame>
        <p:nvGraphicFramePr>
          <p:cNvPr id="2" name="Oggetto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813580"/>
              </p:ext>
            </p:extLst>
          </p:nvPr>
        </p:nvGraphicFramePr>
        <p:xfrm>
          <a:off x="58176" y="1370769"/>
          <a:ext cx="4054550" cy="10186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zione" r:id="rId2" imgW="2438280" imgH="634680" progId="Equation.3">
                  <p:embed/>
                </p:oleObj>
              </mc:Choice>
              <mc:Fallback>
                <p:oleObj name="Equazione" r:id="rId2" imgW="2438280" imgH="63468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176" y="1370769"/>
                        <a:ext cx="4054550" cy="101869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tangolo 3"/>
          <p:cNvSpPr/>
          <p:nvPr/>
        </p:nvSpPr>
        <p:spPr>
          <a:xfrm>
            <a:off x="4734814" y="2113707"/>
            <a:ext cx="435985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sz="2000" b="1" dirty="0" err="1">
                <a:latin typeface="Garamond" pitchFamily="18" charset="0"/>
              </a:rPr>
              <a:t>c</a:t>
            </a:r>
            <a:r>
              <a:rPr lang="it-IT" sz="1600" baseline="-25000" dirty="0" err="1"/>
              <a:t>f</a:t>
            </a:r>
            <a:r>
              <a:rPr lang="it-IT" sz="1600" dirty="0"/>
              <a:t> = k ( 1.8 *10</a:t>
            </a:r>
            <a:r>
              <a:rPr lang="it-IT" sz="1600" baseline="30000" dirty="0"/>
              <a:t>5 </a:t>
            </a:r>
            <a:r>
              <a:rPr lang="it-IT" sz="1600" dirty="0"/>
              <a:t>/ Re )   </a:t>
            </a:r>
            <a:r>
              <a:rPr lang="it-IT" sz="1600" dirty="0" err="1"/>
              <a:t>where</a:t>
            </a:r>
            <a:r>
              <a:rPr lang="it-IT" sz="1600" dirty="0"/>
              <a:t> k = 0.005 – 0.02</a:t>
            </a:r>
            <a:endParaRPr lang="en-GB" sz="1600" dirty="0"/>
          </a:p>
        </p:txBody>
      </p:sp>
      <p:sp>
        <p:nvSpPr>
          <p:cNvPr id="25" name="Rettangolo 24"/>
          <p:cNvSpPr/>
          <p:nvPr/>
        </p:nvSpPr>
        <p:spPr>
          <a:xfrm>
            <a:off x="5098736" y="1510784"/>
            <a:ext cx="394100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sz="1800" dirty="0" err="1">
                <a:latin typeface="Garamond" pitchFamily="18" charset="0"/>
              </a:rPr>
              <a:t>Chosen</a:t>
            </a:r>
            <a:r>
              <a:rPr lang="it-IT" sz="1800" dirty="0">
                <a:latin typeface="Garamond" pitchFamily="18" charset="0"/>
              </a:rPr>
              <a:t>:  D</a:t>
            </a:r>
            <a:r>
              <a:rPr lang="it-IT" sz="1800" baseline="-25000" dirty="0">
                <a:latin typeface="Garamond" pitchFamily="18" charset="0"/>
              </a:rPr>
              <a:t>3</a:t>
            </a:r>
            <a:r>
              <a:rPr lang="it-IT" sz="1800" dirty="0">
                <a:latin typeface="Garamond" pitchFamily="18" charset="0"/>
              </a:rPr>
              <a:t>/D</a:t>
            </a:r>
            <a:r>
              <a:rPr lang="it-IT" sz="1800" baseline="-25000" dirty="0">
                <a:latin typeface="Garamond" pitchFamily="18" charset="0"/>
              </a:rPr>
              <a:t>2 </a:t>
            </a:r>
            <a:r>
              <a:rPr lang="it-IT" sz="1800" dirty="0">
                <a:latin typeface="Garamond" pitchFamily="18" charset="0"/>
              </a:rPr>
              <a:t>= 1.2     ;   b</a:t>
            </a:r>
            <a:r>
              <a:rPr lang="it-IT" sz="1800" baseline="-25000" dirty="0">
                <a:latin typeface="Garamond" pitchFamily="18" charset="0"/>
              </a:rPr>
              <a:t>3</a:t>
            </a:r>
            <a:r>
              <a:rPr lang="it-IT" sz="1800" dirty="0">
                <a:latin typeface="Garamond" pitchFamily="18" charset="0"/>
              </a:rPr>
              <a:t>/b</a:t>
            </a:r>
            <a:r>
              <a:rPr lang="it-IT" sz="1800" baseline="-25000" dirty="0">
                <a:latin typeface="Garamond" pitchFamily="18" charset="0"/>
              </a:rPr>
              <a:t>2 </a:t>
            </a:r>
            <a:r>
              <a:rPr lang="it-IT" sz="1800" dirty="0">
                <a:latin typeface="Garamond" pitchFamily="18" charset="0"/>
              </a:rPr>
              <a:t>= 1</a:t>
            </a:r>
            <a:endParaRPr lang="en-GB" sz="1400" dirty="0"/>
          </a:p>
        </p:txBody>
      </p:sp>
      <p:pic>
        <p:nvPicPr>
          <p:cNvPr id="26" name="Picture 2" descr="fig3-2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699"/>
          <a:stretch>
            <a:fillRect/>
          </a:stretch>
        </p:blipFill>
        <p:spPr bwMode="auto">
          <a:xfrm rot="60000">
            <a:off x="5000112" y="3645460"/>
            <a:ext cx="4026335" cy="31776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" name="Rettangolo 26"/>
          <p:cNvSpPr/>
          <p:nvPr/>
        </p:nvSpPr>
        <p:spPr>
          <a:xfrm>
            <a:off x="225820" y="666012"/>
            <a:ext cx="212759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sz="1800" dirty="0">
                <a:latin typeface="Garamond" pitchFamily="18" charset="0"/>
              </a:rPr>
              <a:t>link V</a:t>
            </a:r>
            <a:r>
              <a:rPr lang="it-IT" sz="1800" baseline="-25000" dirty="0">
                <a:latin typeface="Garamond" pitchFamily="18" charset="0"/>
              </a:rPr>
              <a:t>3t</a:t>
            </a:r>
            <a:r>
              <a:rPr lang="it-IT" sz="1800" dirty="0">
                <a:latin typeface="Garamond" pitchFamily="18" charset="0"/>
              </a:rPr>
              <a:t> ; V</a:t>
            </a:r>
            <a:r>
              <a:rPr lang="it-IT" sz="1800" baseline="-25000" dirty="0">
                <a:latin typeface="Garamond" pitchFamily="18" charset="0"/>
              </a:rPr>
              <a:t>2t</a:t>
            </a:r>
            <a:r>
              <a:rPr lang="it-IT" sz="1800" dirty="0">
                <a:latin typeface="Garamond" pitchFamily="18" charset="0"/>
              </a:rPr>
              <a:t>:</a:t>
            </a:r>
            <a:endParaRPr lang="en-GB" sz="1400" dirty="0"/>
          </a:p>
        </p:txBody>
      </p:sp>
      <p:graphicFrame>
        <p:nvGraphicFramePr>
          <p:cNvPr id="3" name="Oggetto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22891854"/>
              </p:ext>
            </p:extLst>
          </p:nvPr>
        </p:nvGraphicFramePr>
        <p:xfrm>
          <a:off x="2342743" y="476672"/>
          <a:ext cx="4359858" cy="9403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zione" r:id="rId5" imgW="2158920" imgH="482400" progId="Equation.3">
                  <p:embed/>
                </p:oleObj>
              </mc:Choice>
              <mc:Fallback>
                <p:oleObj name="Equazione" r:id="rId5" imgW="2158920" imgH="482400" progId="Equation.3">
                  <p:embed/>
                  <p:pic>
                    <p:nvPicPr>
                      <p:cNvPr id="0" name="Oggetto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42743" y="476672"/>
                        <a:ext cx="4359858" cy="94039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ttangolo 15"/>
          <p:cNvSpPr/>
          <p:nvPr/>
        </p:nvSpPr>
        <p:spPr>
          <a:xfrm>
            <a:off x="6726491" y="3353479"/>
            <a:ext cx="109468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800" b="1" dirty="0">
                <a:latin typeface="Garamond" pitchFamily="18" charset="0"/>
              </a:rPr>
              <a:t>stability</a:t>
            </a:r>
            <a:endParaRPr lang="en-GB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Oggetto 4"/>
              <p:cNvSpPr txBox="1"/>
              <p:nvPr/>
            </p:nvSpPr>
            <p:spPr bwMode="auto">
              <a:xfrm>
                <a:off x="642822" y="2663825"/>
                <a:ext cx="4167882" cy="8604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47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GB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it-IT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n-GB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it-IT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,2</m:t>
                          </m:r>
                        </m:sub>
                      </m:sSub>
                      <m:r>
                        <a:rPr lang="en-GB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it-IT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,3</m:t>
                          </m:r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GB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it-IT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,2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f>
                            <m:fPr>
                              <m:ctrlPr>
                                <a:rPr lang="en-GB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GB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it-IT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  <m:r>
                                    <a:rPr lang="en-GB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,3</m:t>
                                  </m:r>
                                  <m:r>
                                    <a:rPr lang="en-GB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GB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it-IT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  <m:r>
                                    <a:rPr lang="en-GB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,2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r>
                        <a:rPr lang="en-GB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it-IT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,2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sSup>
                            <m:sSupPr>
                              <m:ctrlPr>
                                <a:rPr lang="en-GB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GB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GB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en-GB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GB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𝑃</m:t>
                                          </m:r>
                                        </m:e>
                                        <m:sub>
                                          <m:r>
                                            <a:rPr lang="it-IT" b="0" i="1" smtClean="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𝑇</m:t>
                                          </m:r>
                                          <m:r>
                                            <a:rPr lang="en-GB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,3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GB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GB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𝑃</m:t>
                                          </m:r>
                                        </m:e>
                                        <m:sub>
                                          <m:r>
                                            <a:rPr lang="it-IT" b="0" i="1" smtClean="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𝑇</m:t>
                                          </m:r>
                                          <m:r>
                                            <a:rPr lang="en-GB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,2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d>
                            </m:e>
                            <m:sup>
                              <m:f>
                                <m:fPr>
                                  <m:ctrlPr>
                                    <a:rPr lang="en-GB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𝛾</m:t>
                                  </m:r>
                                  <m:r>
                                    <a:rPr lang="en-GB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num>
                                <m:den>
                                  <m:r>
                                    <a:rPr lang="en-GB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𝛾</m:t>
                                  </m:r>
                                </m:den>
                              </m:f>
                            </m:sup>
                          </m:sSup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5" name="Oggetto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42822" y="2663825"/>
                <a:ext cx="4167882" cy="86042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Gruppo 6"/>
          <p:cNvGrpSpPr/>
          <p:nvPr/>
        </p:nvGrpSpPr>
        <p:grpSpPr>
          <a:xfrm rot="120000">
            <a:off x="323528" y="3563832"/>
            <a:ext cx="2376264" cy="2889504"/>
            <a:chOff x="467544" y="3277210"/>
            <a:chExt cx="2376264" cy="2889504"/>
          </a:xfrm>
        </p:grpSpPr>
        <p:grpSp>
          <p:nvGrpSpPr>
            <p:cNvPr id="6" name="Gruppo 5"/>
            <p:cNvGrpSpPr/>
            <p:nvPr/>
          </p:nvGrpSpPr>
          <p:grpSpPr>
            <a:xfrm>
              <a:off x="467544" y="3277210"/>
              <a:ext cx="2376264" cy="2889504"/>
              <a:chOff x="467544" y="3277210"/>
              <a:chExt cx="2376264" cy="2889504"/>
            </a:xfrm>
          </p:grpSpPr>
          <p:pic>
            <p:nvPicPr>
              <p:cNvPr id="131099" name="Picture 27"/>
              <p:cNvPicPr>
                <a:picLocks noChangeAspect="1" noChangeArrowheads="1"/>
              </p:cNvPicPr>
              <p:nvPr/>
            </p:nvPicPr>
            <p:blipFill rotWithShape="1"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7520" b="5054"/>
              <a:stretch/>
            </p:blipFill>
            <p:spPr bwMode="auto">
              <a:xfrm rot="21540000">
                <a:off x="467544" y="3277210"/>
                <a:ext cx="2376264" cy="28895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8" name="Rettangolo 17"/>
              <p:cNvSpPr/>
              <p:nvPr/>
            </p:nvSpPr>
            <p:spPr>
              <a:xfrm>
                <a:off x="1005353" y="3789040"/>
                <a:ext cx="235447" cy="161583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lIns="0" tIns="0" rIns="0" bIns="0">
                <a:spAutoFit/>
              </a:bodyPr>
              <a:lstStyle/>
              <a:p>
                <a:r>
                  <a:rPr lang="it-IT" sz="1050" dirty="0">
                    <a:latin typeface="Garamond" pitchFamily="18" charset="0"/>
                  </a:rPr>
                  <a:t>T,3s</a:t>
                </a:r>
                <a:endParaRPr lang="en-GB" sz="900" dirty="0"/>
              </a:p>
            </p:txBody>
          </p:sp>
          <p:sp>
            <p:nvSpPr>
              <p:cNvPr id="19" name="Rettangolo 18"/>
              <p:cNvSpPr/>
              <p:nvPr/>
            </p:nvSpPr>
            <p:spPr>
              <a:xfrm>
                <a:off x="1942066" y="3367543"/>
                <a:ext cx="180060" cy="161583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lIns="0" tIns="0" rIns="0" bIns="0">
                <a:spAutoFit/>
              </a:bodyPr>
              <a:lstStyle/>
              <a:p>
                <a:r>
                  <a:rPr lang="it-IT" sz="1050" dirty="0">
                    <a:latin typeface="Garamond" pitchFamily="18" charset="0"/>
                  </a:rPr>
                  <a:t>T,3</a:t>
                </a:r>
                <a:endParaRPr lang="en-GB" sz="900" dirty="0"/>
              </a:p>
            </p:txBody>
          </p:sp>
          <p:sp>
            <p:nvSpPr>
              <p:cNvPr id="20" name="Rettangolo 19"/>
              <p:cNvSpPr/>
              <p:nvPr/>
            </p:nvSpPr>
            <p:spPr>
              <a:xfrm>
                <a:off x="902673" y="3422958"/>
                <a:ext cx="314782" cy="161583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lIns="0" tIns="0" rIns="0" bIns="0">
                <a:spAutoFit/>
              </a:bodyPr>
              <a:lstStyle/>
              <a:p>
                <a:r>
                  <a:rPr lang="it-IT" sz="1050" dirty="0">
                    <a:latin typeface="Garamond" pitchFamily="18" charset="0"/>
                  </a:rPr>
                  <a:t>T,2e</a:t>
                </a:r>
                <a:endParaRPr lang="en-GB" sz="900" dirty="0"/>
              </a:p>
            </p:txBody>
          </p:sp>
          <p:sp>
            <p:nvSpPr>
              <p:cNvPr id="21" name="Rettangolo 20"/>
              <p:cNvSpPr/>
              <p:nvPr/>
            </p:nvSpPr>
            <p:spPr>
              <a:xfrm>
                <a:off x="2312714" y="3345366"/>
                <a:ext cx="315069" cy="161583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lIns="0" tIns="0" rIns="0" bIns="0">
                <a:spAutoFit/>
              </a:bodyPr>
              <a:lstStyle/>
              <a:p>
                <a:r>
                  <a:rPr lang="it-IT" sz="1050" dirty="0">
                    <a:latin typeface="Garamond" pitchFamily="18" charset="0"/>
                  </a:rPr>
                  <a:t>P</a:t>
                </a:r>
                <a:r>
                  <a:rPr lang="it-IT" sz="1050" baseline="-25000" dirty="0">
                    <a:latin typeface="Garamond" pitchFamily="18" charset="0"/>
                  </a:rPr>
                  <a:t>T</a:t>
                </a:r>
                <a:r>
                  <a:rPr lang="it-IT" sz="1050" dirty="0">
                    <a:latin typeface="Garamond" pitchFamily="18" charset="0"/>
                  </a:rPr>
                  <a:t>,3</a:t>
                </a:r>
                <a:endParaRPr lang="en-GB" sz="900" dirty="0"/>
              </a:p>
            </p:txBody>
          </p:sp>
          <p:sp>
            <p:nvSpPr>
              <p:cNvPr id="22" name="Rettangolo 21"/>
              <p:cNvSpPr/>
              <p:nvPr/>
            </p:nvSpPr>
            <p:spPr>
              <a:xfrm>
                <a:off x="1175189" y="3348017"/>
                <a:ext cx="315069" cy="161583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lIns="0" tIns="0" rIns="0" bIns="0">
                <a:spAutoFit/>
              </a:bodyPr>
              <a:lstStyle/>
              <a:p>
                <a:r>
                  <a:rPr lang="it-IT" sz="1050" dirty="0">
                    <a:latin typeface="Garamond" pitchFamily="18" charset="0"/>
                  </a:rPr>
                  <a:t>PT,2</a:t>
                </a:r>
                <a:endParaRPr lang="en-GB" sz="900" dirty="0"/>
              </a:p>
            </p:txBody>
          </p:sp>
        </p:grpSp>
        <p:sp>
          <p:nvSpPr>
            <p:cNvPr id="28" name="Rettangolo 27"/>
            <p:cNvSpPr/>
            <p:nvPr/>
          </p:nvSpPr>
          <p:spPr>
            <a:xfrm>
              <a:off x="517014" y="3432877"/>
              <a:ext cx="78767" cy="16158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>
              <a:spAutoFit/>
            </a:bodyPr>
            <a:lstStyle/>
            <a:p>
              <a:r>
                <a:rPr lang="it-IT" sz="1050" b="1" dirty="0">
                  <a:latin typeface="Garamond" pitchFamily="18" charset="0"/>
                </a:rPr>
                <a:t>h</a:t>
              </a:r>
              <a:endParaRPr lang="en-GB" sz="9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25076801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1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8666163" y="142875"/>
            <a:ext cx="477837" cy="246063"/>
          </a:xfrm>
          <a:noFill/>
        </p:spPr>
        <p:txBody>
          <a:bodyPr rIns="360000"/>
          <a:lstStyle/>
          <a:p>
            <a:fld id="{7064E6CC-FC8B-44EA-9278-DE18FC5AD76E}" type="slidenum">
              <a:rPr lang="it-IT" smtClean="0"/>
              <a:pPr/>
              <a:t>8</a:t>
            </a:fld>
            <a:endParaRPr lang="it-IT"/>
          </a:p>
        </p:txBody>
      </p:sp>
      <p:sp>
        <p:nvSpPr>
          <p:cNvPr id="9223" name="Rectangle 15"/>
          <p:cNvSpPr>
            <a:spLocks noChangeArrowheads="1"/>
          </p:cNvSpPr>
          <p:nvPr/>
        </p:nvSpPr>
        <p:spPr bwMode="auto">
          <a:xfrm>
            <a:off x="449263" y="16954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>
            <a:spAutoFit/>
          </a:bodyPr>
          <a:lstStyle/>
          <a:p>
            <a:pPr indent="180975"/>
            <a:r>
              <a:rPr lang="it-IT" sz="1600">
                <a:latin typeface="Garamond" pitchFamily="18" charset="0"/>
                <a:cs typeface="Times New Roman" pitchFamily="18" charset="0"/>
              </a:rPr>
              <a:t>			</a:t>
            </a:r>
            <a:endParaRPr lang="it-IT"/>
          </a:p>
        </p:txBody>
      </p:sp>
      <p:sp>
        <p:nvSpPr>
          <p:cNvPr id="9225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>
            <a:spAutoFit/>
          </a:bodyPr>
          <a:lstStyle/>
          <a:p>
            <a:endParaRPr lang="en-GB"/>
          </a:p>
        </p:txBody>
      </p:sp>
      <p:sp>
        <p:nvSpPr>
          <p:cNvPr id="9226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>
            <a:spAutoFit/>
          </a:bodyPr>
          <a:lstStyle/>
          <a:p>
            <a:endParaRPr lang="en-GB"/>
          </a:p>
        </p:txBody>
      </p:sp>
      <p:sp>
        <p:nvSpPr>
          <p:cNvPr id="9227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>
            <a:spAutoFit/>
          </a:bodyPr>
          <a:lstStyle/>
          <a:p>
            <a:endParaRPr lang="en-GB"/>
          </a:p>
        </p:txBody>
      </p:sp>
      <p:sp>
        <p:nvSpPr>
          <p:cNvPr id="9228" name="Rectangle 17"/>
          <p:cNvSpPr>
            <a:spLocks noChangeArrowheads="1"/>
          </p:cNvSpPr>
          <p:nvPr/>
        </p:nvSpPr>
        <p:spPr bwMode="auto">
          <a:xfrm>
            <a:off x="0" y="76962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>
            <a:spAutoFit/>
          </a:bodyPr>
          <a:lstStyle/>
          <a:p>
            <a:endParaRPr lang="en-US"/>
          </a:p>
        </p:txBody>
      </p:sp>
      <p:cxnSp>
        <p:nvCxnSpPr>
          <p:cNvPr id="9229" name="Straight Arrow Connector 20"/>
          <p:cNvCxnSpPr>
            <a:cxnSpLocks noChangeShapeType="1"/>
          </p:cNvCxnSpPr>
          <p:nvPr/>
        </p:nvCxnSpPr>
        <p:spPr bwMode="auto">
          <a:xfrm>
            <a:off x="7858125" y="1857375"/>
            <a:ext cx="914400" cy="914400"/>
          </a:xfrm>
          <a:prstGeom prst="straightConnector1">
            <a:avLst/>
          </a:prstGeom>
          <a:noFill/>
          <a:ln w="9525" algn="ctr">
            <a:noFill/>
            <a:round/>
            <a:headEnd/>
            <a:tailEnd type="arrow" w="med" len="med"/>
          </a:ln>
        </p:spPr>
      </p:cxnSp>
      <p:sp>
        <p:nvSpPr>
          <p:cNvPr id="33" name="Title 1"/>
          <p:cNvSpPr txBox="1">
            <a:spLocks/>
          </p:cNvSpPr>
          <p:nvPr/>
        </p:nvSpPr>
        <p:spPr bwMode="auto">
          <a:xfrm>
            <a:off x="395536" y="334367"/>
            <a:ext cx="3134122" cy="42862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3F6E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3F6E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3F6E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3F6E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3F6E"/>
                </a:solidFill>
                <a:latin typeface="Arial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3F6E"/>
                </a:solidFill>
                <a:latin typeface="Arial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3F6E"/>
                </a:solidFill>
                <a:latin typeface="Arial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3F6E"/>
                </a:solidFill>
                <a:latin typeface="Arial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3F6E"/>
                </a:solidFill>
                <a:latin typeface="Arial" charset="0"/>
              </a:defRPr>
            </a:lvl9pPr>
          </a:lstStyle>
          <a:p>
            <a:r>
              <a:rPr lang="it-IT" sz="2400" kern="0" dirty="0"/>
              <a:t>Vaned </a:t>
            </a:r>
            <a:r>
              <a:rPr lang="it-IT" sz="2400" kern="0" dirty="0" err="1"/>
              <a:t>diffuser</a:t>
            </a:r>
            <a:endParaRPr lang="en-GB" sz="2400" kern="0" dirty="0"/>
          </a:p>
        </p:txBody>
      </p:sp>
      <p:grpSp>
        <p:nvGrpSpPr>
          <p:cNvPr id="12" name="Group 32"/>
          <p:cNvGrpSpPr/>
          <p:nvPr/>
        </p:nvGrpSpPr>
        <p:grpSpPr>
          <a:xfrm>
            <a:off x="5368925" y="1695450"/>
            <a:ext cx="2946400" cy="4351338"/>
            <a:chOff x="6197600" y="0"/>
            <a:chExt cx="2946400" cy="4351338"/>
          </a:xfrm>
        </p:grpSpPr>
        <p:pic>
          <p:nvPicPr>
            <p:cNvPr id="13" name="Picture 12" descr="cpd"/>
            <p:cNvPicPr>
              <a:picLocks noChangeAspect="1" noChangeArrowheads="1"/>
            </p:cNvPicPr>
            <p:nvPr/>
          </p:nvPicPr>
          <p:blipFill>
            <a:blip r:embed="rId2" cstate="print"/>
            <a:srcRect t="2155" r="42953"/>
            <a:stretch>
              <a:fillRect/>
            </a:stretch>
          </p:blipFill>
          <p:spPr bwMode="auto">
            <a:xfrm>
              <a:off x="6197600" y="0"/>
              <a:ext cx="2946400" cy="43513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4" name="TextBox 68"/>
            <p:cNvSpPr txBox="1">
              <a:spLocks noChangeArrowheads="1"/>
            </p:cNvSpPr>
            <p:nvPr/>
          </p:nvSpPr>
          <p:spPr bwMode="auto">
            <a:xfrm>
              <a:off x="6483559" y="116633"/>
              <a:ext cx="1440159" cy="276999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wrap="square" lIns="0" tIns="0" rIns="0" bIns="0">
              <a:spAutoFit/>
            </a:bodyPr>
            <a:lstStyle/>
            <a:p>
              <a:r>
                <a:rPr lang="it-IT" sz="1800" b="1" dirty="0">
                  <a:latin typeface="Garamond" pitchFamily="18" charset="0"/>
                </a:rPr>
                <a:t>Planar diffuser</a:t>
              </a:r>
              <a:endParaRPr lang="it-IT" sz="1800" dirty="0">
                <a:latin typeface="Garamond" pitchFamily="18" charset="0"/>
              </a:endParaRPr>
            </a:p>
          </p:txBody>
        </p:sp>
      </p:grpSp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449263" y="2492896"/>
            <a:ext cx="4464496" cy="3180581"/>
            <a:chOff x="1695" y="1468"/>
            <a:chExt cx="9000" cy="6436"/>
          </a:xfrm>
        </p:grpSpPr>
        <p:pic>
          <p:nvPicPr>
            <p:cNvPr id="132099" name="Picture 2" descr="diff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9879" t="24133" r="1286" b="21548"/>
            <a:stretch>
              <a:fillRect/>
            </a:stretch>
          </p:blipFill>
          <p:spPr bwMode="auto">
            <a:xfrm>
              <a:off x="1695" y="1468"/>
              <a:ext cx="9000" cy="59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" name="Text Box 4"/>
            <p:cNvSpPr txBox="1">
              <a:spLocks noChangeArrowheads="1"/>
            </p:cNvSpPr>
            <p:nvPr/>
          </p:nvSpPr>
          <p:spPr bwMode="auto">
            <a:xfrm>
              <a:off x="2975" y="7438"/>
              <a:ext cx="7210" cy="46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it-IT" altLang="it-IT" sz="1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cs typeface="Arial" pitchFamily="34" charset="0"/>
                </a:rPr>
                <a:t>Figure 1: efficiency for different diffusers</a:t>
              </a:r>
              <a:endParaRPr kumimoji="0" lang="it-IT" altLang="it-IT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</p:grpSp>
      <p:graphicFrame>
        <p:nvGraphicFramePr>
          <p:cNvPr id="5" name="Oggetto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37357120"/>
              </p:ext>
            </p:extLst>
          </p:nvPr>
        </p:nvGraphicFramePr>
        <p:xfrm>
          <a:off x="1962597" y="1450927"/>
          <a:ext cx="1770063" cy="722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zione" r:id="rId4" imgW="901440" imgH="368280" progId="Equation.3">
                  <p:embed/>
                </p:oleObj>
              </mc:Choice>
              <mc:Fallback>
                <p:oleObj name="Equazione" r:id="rId4" imgW="901440" imgH="36828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62597" y="1450927"/>
                        <a:ext cx="1770063" cy="7223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CC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ggetto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3852653"/>
              </p:ext>
            </p:extLst>
          </p:nvPr>
        </p:nvGraphicFramePr>
        <p:xfrm>
          <a:off x="6091808" y="974122"/>
          <a:ext cx="1500634" cy="7213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zione" r:id="rId6" imgW="711000" imgH="342720" progId="Equation.3">
                  <p:embed/>
                </p:oleObj>
              </mc:Choice>
              <mc:Fallback>
                <p:oleObj name="Equazione" r:id="rId6" imgW="711000" imgH="342720" progId="Equation.3">
                  <p:embed/>
                  <p:pic>
                    <p:nvPicPr>
                      <p:cNvPr id="0" name="Oggetto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1808" y="974122"/>
                        <a:ext cx="1500634" cy="72132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159686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numero diapositiva 1">
            <a:extLst>
              <a:ext uri="{FF2B5EF4-FFF2-40B4-BE49-F238E27FC236}">
                <a16:creationId xmlns:a16="http://schemas.microsoft.com/office/drawing/2014/main" id="{ABA67282-A3B4-4156-BCA2-5A188267207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FF9E230-1756-4978-AE1E-FE73175DDBB7}" type="slidenum">
              <a:rPr lang="it-IT" smtClean="0"/>
              <a:pPr>
                <a:defRPr/>
              </a:pPr>
              <a:t>9</a:t>
            </a:fld>
            <a:endParaRPr lang="it-IT"/>
          </a:p>
        </p:txBody>
      </p:sp>
      <p:grpSp>
        <p:nvGrpSpPr>
          <p:cNvPr id="64" name="Gruppo 63">
            <a:extLst>
              <a:ext uri="{FF2B5EF4-FFF2-40B4-BE49-F238E27FC236}">
                <a16:creationId xmlns:a16="http://schemas.microsoft.com/office/drawing/2014/main" id="{C8B58C0F-E455-4CC9-A0EA-C606E8AD82AA}"/>
              </a:ext>
            </a:extLst>
          </p:cNvPr>
          <p:cNvGrpSpPr/>
          <p:nvPr/>
        </p:nvGrpSpPr>
        <p:grpSpPr>
          <a:xfrm>
            <a:off x="2051720" y="1844824"/>
            <a:ext cx="4776372" cy="2686709"/>
            <a:chOff x="2051720" y="1844824"/>
            <a:chExt cx="4776372" cy="2686709"/>
          </a:xfrm>
        </p:grpSpPr>
        <p:grpSp>
          <p:nvGrpSpPr>
            <p:cNvPr id="51" name="Gruppo 50">
              <a:extLst>
                <a:ext uri="{FF2B5EF4-FFF2-40B4-BE49-F238E27FC236}">
                  <a16:creationId xmlns:a16="http://schemas.microsoft.com/office/drawing/2014/main" id="{1C605E15-4212-438D-80A3-C61EA89172E5}"/>
                </a:ext>
              </a:extLst>
            </p:cNvPr>
            <p:cNvGrpSpPr/>
            <p:nvPr/>
          </p:nvGrpSpPr>
          <p:grpSpPr>
            <a:xfrm>
              <a:off x="2051720" y="1844824"/>
              <a:ext cx="4776372" cy="2686709"/>
              <a:chOff x="2051720" y="1844824"/>
              <a:chExt cx="4776372" cy="2686709"/>
            </a:xfrm>
          </p:grpSpPr>
          <p:pic>
            <p:nvPicPr>
              <p:cNvPr id="4" name="Immagine 3" descr="Immagine che contiene oggetto, antenna&#10;&#10;Descrizione generata automaticamente">
                <a:extLst>
                  <a:ext uri="{FF2B5EF4-FFF2-40B4-BE49-F238E27FC236}">
                    <a16:creationId xmlns:a16="http://schemas.microsoft.com/office/drawing/2014/main" id="{4E7D2EBC-88EE-452C-B6A8-8E55F82254B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051720" y="1844824"/>
                <a:ext cx="4776372" cy="2686709"/>
              </a:xfrm>
              <a:prstGeom prst="rect">
                <a:avLst/>
              </a:prstGeom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" name="CasellaDiTesto 4">
                    <a:extLst>
                      <a:ext uri="{FF2B5EF4-FFF2-40B4-BE49-F238E27FC236}">
                        <a16:creationId xmlns:a16="http://schemas.microsoft.com/office/drawing/2014/main" id="{E11C8FAA-281E-4C68-A8A4-9797F4EA9617}"/>
                      </a:ext>
                    </a:extLst>
                  </p:cNvPr>
                  <p:cNvSpPr txBox="1"/>
                  <p:nvPr/>
                </p:nvSpPr>
                <p:spPr>
                  <a:xfrm>
                    <a:off x="5175834" y="2938322"/>
                    <a:ext cx="510909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it-IT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sz="1800" b="0" i="1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it-IT" sz="18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en-US" sz="1800" dirty="0"/>
                  </a:p>
                </p:txBody>
              </p:sp>
            </mc:Choice>
            <mc:Fallback xmlns="">
              <p:sp>
                <p:nvSpPr>
                  <p:cNvPr id="5" name="CasellaDiTesto 4">
                    <a:extLst>
                      <a:ext uri="{FF2B5EF4-FFF2-40B4-BE49-F238E27FC236}">
                        <a16:creationId xmlns:a16="http://schemas.microsoft.com/office/drawing/2014/main" id="{E11C8FAA-281E-4C68-A8A4-9797F4EA961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175834" y="2938322"/>
                    <a:ext cx="510909" cy="369332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" name="CasellaDiTesto 6">
                    <a:extLst>
                      <a:ext uri="{FF2B5EF4-FFF2-40B4-BE49-F238E27FC236}">
                        <a16:creationId xmlns:a16="http://schemas.microsoft.com/office/drawing/2014/main" id="{DCCBCB4B-20DC-45E6-9B64-157DA9AA6D28}"/>
                      </a:ext>
                    </a:extLst>
                  </p:cNvPr>
                  <p:cNvSpPr txBox="1"/>
                  <p:nvPr/>
                </p:nvSpPr>
                <p:spPr>
                  <a:xfrm>
                    <a:off x="4585225" y="1992252"/>
                    <a:ext cx="510909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it-IT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sz="1800" b="0" i="1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it-IT" sz="18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oMath>
                      </m:oMathPara>
                    </a14:m>
                    <a:endParaRPr lang="en-US" sz="1800" dirty="0"/>
                  </a:p>
                </p:txBody>
              </p:sp>
            </mc:Choice>
            <mc:Fallback xmlns="">
              <p:sp>
                <p:nvSpPr>
                  <p:cNvPr id="7" name="CasellaDiTesto 6">
                    <a:extLst>
                      <a:ext uri="{FF2B5EF4-FFF2-40B4-BE49-F238E27FC236}">
                        <a16:creationId xmlns:a16="http://schemas.microsoft.com/office/drawing/2014/main" id="{DCCBCB4B-20DC-45E6-9B64-157DA9AA6D2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585225" y="1992252"/>
                    <a:ext cx="510909" cy="369332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b="-1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9" name="Connettore 2 8">
                <a:extLst>
                  <a:ext uri="{FF2B5EF4-FFF2-40B4-BE49-F238E27FC236}">
                    <a16:creationId xmlns:a16="http://schemas.microsoft.com/office/drawing/2014/main" id="{D7C8F12B-C797-45AC-AE72-F2652A0F935A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4439906" y="2924944"/>
                <a:ext cx="348118" cy="1296144"/>
              </a:xfrm>
              <a:prstGeom prst="straightConnector1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" name="CasellaDiTesto 13">
                    <a:extLst>
                      <a:ext uri="{FF2B5EF4-FFF2-40B4-BE49-F238E27FC236}">
                        <a16:creationId xmlns:a16="http://schemas.microsoft.com/office/drawing/2014/main" id="{D87C6C27-B5F1-4932-9B99-E4F3018980CE}"/>
                      </a:ext>
                    </a:extLst>
                  </p:cNvPr>
                  <p:cNvSpPr txBox="1"/>
                  <p:nvPr/>
                </p:nvSpPr>
                <p:spPr>
                  <a:xfrm>
                    <a:off x="4644008" y="3244334"/>
                    <a:ext cx="43973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it-IT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sz="18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it-IT" sz="18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en-US" sz="1800" dirty="0"/>
                  </a:p>
                </p:txBody>
              </p:sp>
            </mc:Choice>
            <mc:Fallback xmlns="">
              <p:sp>
                <p:nvSpPr>
                  <p:cNvPr id="14" name="CasellaDiTesto 13">
                    <a:extLst>
                      <a:ext uri="{FF2B5EF4-FFF2-40B4-BE49-F238E27FC236}">
                        <a16:creationId xmlns:a16="http://schemas.microsoft.com/office/drawing/2014/main" id="{D87C6C27-B5F1-4932-9B99-E4F3018980C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644008" y="3244334"/>
                    <a:ext cx="439736" cy="369332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5" name="Connettore 2 14">
                <a:extLst>
                  <a:ext uri="{FF2B5EF4-FFF2-40B4-BE49-F238E27FC236}">
                    <a16:creationId xmlns:a16="http://schemas.microsoft.com/office/drawing/2014/main" id="{E3A159E6-A71E-480B-98C1-91F6A5CE765D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4439906" y="2060848"/>
                <a:ext cx="159885" cy="2160240"/>
              </a:xfrm>
              <a:prstGeom prst="straightConnector1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" name="CasellaDiTesto 18">
                    <a:extLst>
                      <a:ext uri="{FF2B5EF4-FFF2-40B4-BE49-F238E27FC236}">
                        <a16:creationId xmlns:a16="http://schemas.microsoft.com/office/drawing/2014/main" id="{01CD768B-AB56-4ACE-8968-D84841454927}"/>
                      </a:ext>
                    </a:extLst>
                  </p:cNvPr>
                  <p:cNvSpPr txBox="1"/>
                  <p:nvPr/>
                </p:nvSpPr>
                <p:spPr>
                  <a:xfrm>
                    <a:off x="4174229" y="3183232"/>
                    <a:ext cx="43973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it-IT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sz="18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it-IT" sz="18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oMath>
                      </m:oMathPara>
                    </a14:m>
                    <a:endParaRPr lang="en-US" sz="1800" dirty="0"/>
                  </a:p>
                </p:txBody>
              </p:sp>
            </mc:Choice>
            <mc:Fallback xmlns="">
              <p:sp>
                <p:nvSpPr>
                  <p:cNvPr id="19" name="CasellaDiTesto 18">
                    <a:extLst>
                      <a:ext uri="{FF2B5EF4-FFF2-40B4-BE49-F238E27FC236}">
                        <a16:creationId xmlns:a16="http://schemas.microsoft.com/office/drawing/2014/main" id="{01CD768B-AB56-4ACE-8968-D8484145492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174229" y="3183232"/>
                    <a:ext cx="439736" cy="369332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1" name="Connettore diritto 20">
                <a:extLst>
                  <a:ext uri="{FF2B5EF4-FFF2-40B4-BE49-F238E27FC236}">
                    <a16:creationId xmlns:a16="http://schemas.microsoft.com/office/drawing/2014/main" id="{99C07907-9E84-46B9-84F6-4B271ED35F46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2281618" y="2780928"/>
                <a:ext cx="1908000" cy="162000"/>
              </a:xfrm>
              <a:prstGeom prst="line">
                <a:avLst/>
              </a:prstGeom>
              <a:noFill/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9" name="Connettore diritto 28">
                <a:extLst>
                  <a:ext uri="{FF2B5EF4-FFF2-40B4-BE49-F238E27FC236}">
                    <a16:creationId xmlns:a16="http://schemas.microsoft.com/office/drawing/2014/main" id="{BAEF07C3-4873-45CF-93FD-6198C953FE9E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 flipV="1">
                <a:off x="3926709" y="2636912"/>
                <a:ext cx="513197" cy="1584176"/>
              </a:xfrm>
              <a:prstGeom prst="lin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ysDash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31" name="Arco 30">
                <a:extLst>
                  <a:ext uri="{FF2B5EF4-FFF2-40B4-BE49-F238E27FC236}">
                    <a16:creationId xmlns:a16="http://schemas.microsoft.com/office/drawing/2014/main" id="{9284566D-AACF-42FF-95DC-AC12B7A43A17}"/>
                  </a:ext>
                </a:extLst>
              </p:cNvPr>
              <p:cNvSpPr/>
              <p:nvPr/>
            </p:nvSpPr>
            <p:spPr bwMode="auto">
              <a:xfrm>
                <a:off x="3815301" y="2763927"/>
                <a:ext cx="348118" cy="322034"/>
              </a:xfrm>
              <a:prstGeom prst="arc">
                <a:avLst>
                  <a:gd name="adj1" fmla="val 11101695"/>
                  <a:gd name="adj2" fmla="val 15762663"/>
                </a:avLst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3" name="CasellaDiTesto 32">
                    <a:extLst>
                      <a:ext uri="{FF2B5EF4-FFF2-40B4-BE49-F238E27FC236}">
                        <a16:creationId xmlns:a16="http://schemas.microsoft.com/office/drawing/2014/main" id="{8C5A737A-23A4-4599-B2DD-DFC43062DEBE}"/>
                      </a:ext>
                    </a:extLst>
                  </p:cNvPr>
                  <p:cNvSpPr txBox="1"/>
                  <p:nvPr/>
                </p:nvSpPr>
                <p:spPr>
                  <a:xfrm>
                    <a:off x="3475616" y="2492596"/>
                    <a:ext cx="493981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it-IT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sz="1800" b="0" i="1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it-IT" sz="18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en-US" sz="1800" dirty="0"/>
                  </a:p>
                </p:txBody>
              </p:sp>
            </mc:Choice>
            <mc:Fallback xmlns="">
              <p:sp>
                <p:nvSpPr>
                  <p:cNvPr id="33" name="CasellaDiTesto 32">
                    <a:extLst>
                      <a:ext uri="{FF2B5EF4-FFF2-40B4-BE49-F238E27FC236}">
                        <a16:creationId xmlns:a16="http://schemas.microsoft.com/office/drawing/2014/main" id="{8C5A737A-23A4-4599-B2DD-DFC43062DEB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475616" y="2492596"/>
                    <a:ext cx="493981" cy="369332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b="-1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34" name="Connettore diritto 33">
                <a:extLst>
                  <a:ext uri="{FF2B5EF4-FFF2-40B4-BE49-F238E27FC236}">
                    <a16:creationId xmlns:a16="http://schemas.microsoft.com/office/drawing/2014/main" id="{C37AAD34-68E6-461E-B298-0EAC27D8CFB8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 flipV="1">
                <a:off x="2569428" y="2677262"/>
                <a:ext cx="1867710" cy="1560828"/>
              </a:xfrm>
              <a:prstGeom prst="lin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ysDash"/>
                <a:round/>
                <a:headEnd type="none" w="med" len="med"/>
                <a:tailEnd type="none" w="med" len="med"/>
              </a:ln>
              <a:effectLst/>
            </p:spPr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8" name="CasellaDiTesto 37">
                    <a:extLst>
                      <a:ext uri="{FF2B5EF4-FFF2-40B4-BE49-F238E27FC236}">
                        <a16:creationId xmlns:a16="http://schemas.microsoft.com/office/drawing/2014/main" id="{C57297F1-E962-487E-9F79-06795BF90314}"/>
                      </a:ext>
                    </a:extLst>
                  </p:cNvPr>
                  <p:cNvSpPr txBox="1"/>
                  <p:nvPr/>
                </p:nvSpPr>
                <p:spPr>
                  <a:xfrm>
                    <a:off x="2102215" y="2380350"/>
                    <a:ext cx="493981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it-IT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sz="1800" b="0" i="1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it-IT" sz="18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oMath>
                      </m:oMathPara>
                    </a14:m>
                    <a:endParaRPr lang="en-US" sz="1800" dirty="0"/>
                  </a:p>
                </p:txBody>
              </p:sp>
            </mc:Choice>
            <mc:Fallback xmlns="">
              <p:sp>
                <p:nvSpPr>
                  <p:cNvPr id="38" name="CasellaDiTesto 37">
                    <a:extLst>
                      <a:ext uri="{FF2B5EF4-FFF2-40B4-BE49-F238E27FC236}">
                        <a16:creationId xmlns:a16="http://schemas.microsoft.com/office/drawing/2014/main" id="{C57297F1-E962-487E-9F79-06795BF9031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102215" y="2380350"/>
                    <a:ext cx="493981" cy="369332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40" name="Arco 39">
                <a:extLst>
                  <a:ext uri="{FF2B5EF4-FFF2-40B4-BE49-F238E27FC236}">
                    <a16:creationId xmlns:a16="http://schemas.microsoft.com/office/drawing/2014/main" id="{05E0312F-0574-4B13-B5F5-A53961F775E7}"/>
                  </a:ext>
                </a:extLst>
              </p:cNvPr>
              <p:cNvSpPr/>
              <p:nvPr/>
            </p:nvSpPr>
            <p:spPr bwMode="auto">
              <a:xfrm>
                <a:off x="2566660" y="2675749"/>
                <a:ext cx="348118" cy="322034"/>
              </a:xfrm>
              <a:prstGeom prst="arc">
                <a:avLst>
                  <a:gd name="adj1" fmla="val 11658814"/>
                  <a:gd name="adj2" fmla="val 13389749"/>
                </a:avLst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cxnSp>
            <p:nvCxnSpPr>
              <p:cNvPr id="42" name="Connettore diritto 41">
                <a:extLst>
                  <a:ext uri="{FF2B5EF4-FFF2-40B4-BE49-F238E27FC236}">
                    <a16:creationId xmlns:a16="http://schemas.microsoft.com/office/drawing/2014/main" id="{3A4547C6-2BB7-451A-BE2A-D49B003A061A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740719" y="2132856"/>
                <a:ext cx="31081" cy="728264"/>
              </a:xfrm>
              <a:prstGeom prst="line">
                <a:avLst/>
              </a:prstGeom>
              <a:noFill/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45" name="Connettore diritto 44">
                <a:extLst>
                  <a:ext uri="{FF2B5EF4-FFF2-40B4-BE49-F238E27FC236}">
                    <a16:creationId xmlns:a16="http://schemas.microsoft.com/office/drawing/2014/main" id="{321D54AE-ADC5-436D-B9CB-0397D767A549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4024736" y="2267351"/>
                <a:ext cx="31081" cy="728264"/>
              </a:xfrm>
              <a:prstGeom prst="line">
                <a:avLst/>
              </a:prstGeom>
              <a:noFill/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46" name="Connettore diritto 45">
                <a:extLst>
                  <a:ext uri="{FF2B5EF4-FFF2-40B4-BE49-F238E27FC236}">
                    <a16:creationId xmlns:a16="http://schemas.microsoft.com/office/drawing/2014/main" id="{0FE94E39-8A33-4764-9BDF-CCFBE93D272F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2756259" y="2411596"/>
                <a:ext cx="1284017" cy="97239"/>
              </a:xfrm>
              <a:prstGeom prst="line">
                <a:avLst/>
              </a:prstGeom>
              <a:noFill/>
              <a:ln w="19050" cap="flat" cmpd="sng" algn="ctr">
                <a:solidFill>
                  <a:schemeClr val="tx1"/>
                </a:solidFill>
                <a:prstDash val="solid"/>
                <a:round/>
                <a:headEnd type="stealth" w="med" len="med"/>
                <a:tailEnd type="stealth" w="med" len="med"/>
              </a:ln>
              <a:effectLst/>
            </p:spPr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0" name="CasellaDiTesto 49">
                    <a:extLst>
                      <a:ext uri="{FF2B5EF4-FFF2-40B4-BE49-F238E27FC236}">
                        <a16:creationId xmlns:a16="http://schemas.microsoft.com/office/drawing/2014/main" id="{D2C5BF83-BB6E-4AB6-B5C7-EBCDF80A6249}"/>
                      </a:ext>
                    </a:extLst>
                  </p:cNvPr>
                  <p:cNvSpPr txBox="1"/>
                  <p:nvPr/>
                </p:nvSpPr>
                <p:spPr>
                  <a:xfrm>
                    <a:off x="3439690" y="2110190"/>
                    <a:ext cx="376962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it-IT" sz="18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oMath>
                      </m:oMathPara>
                    </a14:m>
                    <a:endParaRPr lang="en-US" sz="1800" dirty="0"/>
                  </a:p>
                </p:txBody>
              </p:sp>
            </mc:Choice>
            <mc:Fallback xmlns="">
              <p:sp>
                <p:nvSpPr>
                  <p:cNvPr id="50" name="CasellaDiTesto 49">
                    <a:extLst>
                      <a:ext uri="{FF2B5EF4-FFF2-40B4-BE49-F238E27FC236}">
                        <a16:creationId xmlns:a16="http://schemas.microsoft.com/office/drawing/2014/main" id="{D2C5BF83-BB6E-4AB6-B5C7-EBCDF80A624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439690" y="2110190"/>
                    <a:ext cx="376962" cy="369332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52" name="Connettore diritto 51">
              <a:extLst>
                <a:ext uri="{FF2B5EF4-FFF2-40B4-BE49-F238E27FC236}">
                  <a16:creationId xmlns:a16="http://schemas.microsoft.com/office/drawing/2014/main" id="{BD2A681B-DDF4-4B76-BE4B-102E84C618C1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4706877" y="2202709"/>
              <a:ext cx="525551" cy="175486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8" name="Connettore diritto 57">
              <a:extLst>
                <a:ext uri="{FF2B5EF4-FFF2-40B4-BE49-F238E27FC236}">
                  <a16:creationId xmlns:a16="http://schemas.microsoft.com/office/drawing/2014/main" id="{AFA7BCFD-AF1F-4612-AFFC-8E0517AA81A1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5080183" y="2892931"/>
              <a:ext cx="348587" cy="142680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185158399"/>
      </p:ext>
    </p:extLst>
  </p:cSld>
  <p:clrMapOvr>
    <a:masterClrMapping/>
  </p:clrMapOvr>
</p:sld>
</file>

<file path=ppt/theme/theme1.xml><?xml version="1.0" encoding="utf-8"?>
<a:theme xmlns:a="http://schemas.openxmlformats.org/drawingml/2006/main" name="Struttura predefinita">
  <a:themeElements>
    <a:clrScheme name="Struttura predefinita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Struttura predefinita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0" tIns="0" rIns="0" bIns="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0" lang="it-IT" altLang="it-IT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0" tIns="0" rIns="0" bIns="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0" lang="it-IT" altLang="it-IT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Struttura predefinita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uttura predefinita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uttura predefinita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uttura predefinita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uttura predefinita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uttura predefinita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uttura predefinita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505</Words>
  <Application>Microsoft Office PowerPoint</Application>
  <PresentationFormat>On-screen Show (4:3)</PresentationFormat>
  <Paragraphs>89</Paragraphs>
  <Slides>9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21" baseType="lpstr">
      <vt:lpstr>Arial</vt:lpstr>
      <vt:lpstr>Calibri</vt:lpstr>
      <vt:lpstr>Cambria Math</vt:lpstr>
      <vt:lpstr>Garamond</vt:lpstr>
      <vt:lpstr>Minion Web</vt:lpstr>
      <vt:lpstr>Symbol</vt:lpstr>
      <vt:lpstr>Times</vt:lpstr>
      <vt:lpstr>Times New Roman</vt:lpstr>
      <vt:lpstr>Wingdings</vt:lpstr>
      <vt:lpstr>Struttura predefinita</vt:lpstr>
      <vt:lpstr>Equation</vt:lpstr>
      <vt:lpstr>Equazione</vt:lpstr>
      <vt:lpstr>PowerPoint Presentation</vt:lpstr>
      <vt:lpstr>PowerPoint Presentation</vt:lpstr>
      <vt:lpstr>First Guess</vt:lpstr>
      <vt:lpstr>       ROTOR </vt:lpstr>
      <vt:lpstr>       ROTOR  Computed as increase of total enthalpy (work increase) and /or decrease of efficiency       Lu = Lis + ∑ Dh t,i   ; h = Lis/Lu - Dh </vt:lpstr>
      <vt:lpstr>       ROTOR </vt:lpstr>
      <vt:lpstr>PowerPoint Presentation</vt:lpstr>
      <vt:lpstr>PowerPoint Presentation</vt:lpstr>
      <vt:lpstr>PowerPoint Presentation</vt:lpstr>
    </vt:vector>
  </TitlesOfParts>
  <Company>siwa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di PowerPoint</dc:title>
  <dc:creator>simon</dc:creator>
  <cp:lastModifiedBy>Gabriele Riboni</cp:lastModifiedBy>
  <cp:revision>1142</cp:revision>
  <cp:lastPrinted>2018-11-12T07:56:46Z</cp:lastPrinted>
  <dcterms:created xsi:type="dcterms:W3CDTF">2003-06-16T09:31:13Z</dcterms:created>
  <dcterms:modified xsi:type="dcterms:W3CDTF">2025-12-11T10:21:31Z</dcterms:modified>
</cp:coreProperties>
</file>